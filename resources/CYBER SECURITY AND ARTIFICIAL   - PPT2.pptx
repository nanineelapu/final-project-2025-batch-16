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302" r:id="rId5"/>
    <p:sldId id="303"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0" r:id="rId25"/>
    <p:sldId id="279" r:id="rId26"/>
    <p:sldId id="280" r:id="rId27"/>
    <p:sldId id="304" r:id="rId28"/>
    <p:sldId id="288" r:id="rId29"/>
    <p:sldId id="28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58" d="100"/>
          <a:sy n="58" d="100"/>
        </p:scale>
        <p:origin x="-78" y="-7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4F828989-6676-4456-8D56-2D31E0F36160}" type="datetimeFigureOut">
              <a:rPr lang="en-US" smtClean="0"/>
              <a:pPr/>
              <a:t>1/26/2024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A6D0659D-0730-4B14-B082-65D6430DF47F}"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A6D0659D-0730-4B14-B082-65D6430DF47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F828989-6676-4456-8D56-2D31E0F36160}" type="datetimeFigureOut">
              <a:rPr lang="en-US" smtClean="0"/>
              <a:pPr/>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F828989-6676-4456-8D56-2D31E0F36160}" type="datetimeFigureOut">
              <a:rPr lang="en-US" smtClean="0"/>
              <a:pPr/>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828989-6676-4456-8D56-2D31E0F36160}" type="datetimeFigureOut">
              <a:rPr lang="en-US" smtClean="0"/>
              <a:pPr/>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4F828989-6676-4456-8D56-2D31E0F36160}" type="datetimeFigureOut">
              <a:rPr lang="en-US" smtClean="0"/>
              <a:pPr/>
              <a:t>1/26/2024</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A6D0659D-0730-4B14-B082-65D6430DF47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10134374"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eeexplore.ieee.org/document/994483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document/10194035"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l.acm.org/doi/abs/10.1145/3205977.3205997"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researchgate.net/publication/370406719_Application_of_User_and_Entity_Behavioral_Analytics_UEBA_in_the_Detection_of_Cyber_Threats_and_Vulnerabilities_Managem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2714620"/>
            <a:ext cx="7772400" cy="1752600"/>
          </a:xfrm>
        </p:spPr>
        <p:txBody>
          <a:bodyPr>
            <a:normAutofit fontScale="90000"/>
          </a:bodyPr>
          <a:lstStyle/>
          <a:p>
            <a:r>
              <a:rPr lang="en-US" b="1" dirty="0"/>
              <a:t>CYBER SECURITY AND ARTIFICIAL INTELLIGENCE FOR CLOUD- BASED INTERNET OF TRANSPORTATION SYSTEMS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Autofit/>
          </a:bodyPr>
          <a:lstStyle/>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"Cyber Security and Artificial Intelligence for Cloud-Based Internet of Transportation Systems" initiative combines cyber security, artificial intelligence, and cloud technology to enhance data integrity and user safety in interconnected transportation networks. </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In the previous development, IOT is been used to store the data which will be transferred to autonomous vehicle. But this system have some drawbacks regarding security during data transfer. </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project uses CPABE encryption to secure files during upload, storage, and download.</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Through distinct user and cloud server modules, it enables seamless interaction, encryption, and decryption while maintaining file integrity.</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project integrates AI-driven anomaly detection and robust cyber security measures, safeguarding cloud-based transportation systems against emerging threats. </a:t>
            </a:r>
          </a:p>
          <a:p>
            <a:pPr marL="601755" lvl="0" indent="-601755" algn="just">
              <a:lnSpc>
                <a:spcPct val="150000"/>
              </a:lnSpc>
              <a:buClr>
                <a:srgbClr val="555A3C"/>
              </a:buClr>
              <a:buSzPct val="70000"/>
              <a:buFont typeface="Wingdings" pitchFamily="2" charset="2"/>
              <a:buChar char="Ø"/>
            </a:pPr>
            <a:endParaRPr lang="en-US" sz="1600" dirty="0" smtClean="0">
              <a:latin typeface="Times New Roman" pitchFamily="18" charset="0"/>
              <a:cs typeface="Times New Roman" pitchFamily="18" charset="0"/>
            </a:endParaRPr>
          </a:p>
          <a:p>
            <a:pPr marL="601755" lvl="0" indent="-601755" algn="just">
              <a:lnSpc>
                <a:spcPct val="150000"/>
              </a:lnSpc>
              <a:buClr>
                <a:srgbClr val="555A3C"/>
              </a:buClr>
              <a:buSzPct val="70000"/>
              <a:buFont typeface="Wingdings" pitchFamily="2" charset="2"/>
              <a:buChar char="Ø"/>
            </a:pPr>
            <a:endParaRPr lang="en-US" sz="1600" dirty="0" smtClean="0">
              <a:latin typeface="Times New Roman" pitchFamily="18" charset="0"/>
              <a:cs typeface="Times New Roman" pitchFamily="18" charset="0"/>
            </a:endParaRPr>
          </a:p>
          <a:p>
            <a:pPr marL="601755" lvl="0" indent="-601755" algn="just">
              <a:lnSpc>
                <a:spcPct val="150000"/>
              </a:lnSpc>
              <a:buClr>
                <a:srgbClr val="555A3C"/>
              </a:buClr>
              <a:buSzPct val="70000"/>
              <a:buNone/>
            </a:pPr>
            <a:endParaRPr lang="en-US" sz="3200" dirty="0">
              <a:latin typeface="Franklin Gothic Boo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Autofit/>
          </a:bodyPr>
          <a:lstStyle/>
          <a:p>
            <a:pPr algn="just">
              <a:lnSpc>
                <a:spcPct val="150000"/>
              </a:lnSpc>
              <a:spcAft>
                <a:spcPts val="1000"/>
              </a:spcAft>
            </a:pPr>
            <a:r>
              <a:rPr lang="en-US" sz="1600" dirty="0" smtClean="0">
                <a:latin typeface="Times New Roman"/>
                <a:ea typeface="Calibri"/>
                <a:cs typeface="Times New Roman"/>
              </a:rPr>
              <a:t>In the rapidly advancing landscape of technology, the integration of artificial intelligence (AI) and cyber security has become imperative, especially within the cloud-based Internet of Transportation Systems (</a:t>
            </a:r>
            <a:r>
              <a:rPr lang="en-US" sz="1600" dirty="0" err="1" smtClean="0">
                <a:latin typeface="Times New Roman"/>
                <a:ea typeface="Calibri"/>
                <a:cs typeface="Times New Roman"/>
              </a:rPr>
              <a:t>IoTs</a:t>
            </a:r>
            <a:r>
              <a:rPr lang="en-US" sz="1600" dirty="0" smtClean="0">
                <a:latin typeface="Times New Roman"/>
                <a:ea typeface="Calibri"/>
                <a:cs typeface="Times New Roman"/>
              </a:rPr>
              <a:t>). </a:t>
            </a:r>
            <a:endParaRPr lang="en-US" sz="1200" dirty="0" smtClean="0">
              <a:latin typeface="Calibri"/>
              <a:ea typeface="Times New Roman"/>
              <a:cs typeface="Times New Roman"/>
            </a:endParaRPr>
          </a:p>
          <a:p>
            <a:pPr algn="just">
              <a:lnSpc>
                <a:spcPct val="150000"/>
              </a:lnSpc>
              <a:spcAft>
                <a:spcPts val="1000"/>
              </a:spcAft>
            </a:pPr>
            <a:r>
              <a:rPr lang="en-US" sz="1600" dirty="0" smtClean="0">
                <a:latin typeface="Times New Roman"/>
                <a:ea typeface="Calibri"/>
                <a:cs typeface="Times New Roman"/>
              </a:rPr>
              <a:t>	As transportation systems become more interconnected and reliant on cloud infrastructure, the need to fortify these networks against cyber threats become paramount.</a:t>
            </a:r>
            <a:endParaRPr lang="en-US" sz="1200" dirty="0" smtClean="0">
              <a:latin typeface="Calibri"/>
              <a:ea typeface="Times New Roman"/>
              <a:cs typeface="Times New Roman"/>
            </a:endParaRPr>
          </a:p>
          <a:p>
            <a:pPr indent="457200" algn="just">
              <a:lnSpc>
                <a:spcPct val="150000"/>
              </a:lnSpc>
              <a:spcAft>
                <a:spcPts val="1000"/>
              </a:spcAft>
            </a:pPr>
            <a:r>
              <a:rPr lang="en-US" sz="1600" dirty="0" smtClean="0">
                <a:latin typeface="Times New Roman"/>
                <a:ea typeface="Calibri"/>
                <a:cs typeface="Times New Roman"/>
              </a:rPr>
              <a:t>The introduction explores the intersection of AI and </a:t>
            </a:r>
            <a:r>
              <a:rPr lang="en-US" sz="1600" dirty="0" err="1" smtClean="0">
                <a:latin typeface="Times New Roman"/>
                <a:ea typeface="Calibri"/>
                <a:cs typeface="Times New Roman"/>
              </a:rPr>
              <a:t>cybersecurity</a:t>
            </a:r>
            <a:r>
              <a:rPr lang="en-US" sz="1600" dirty="0" smtClean="0">
                <a:latin typeface="Times New Roman"/>
                <a:ea typeface="Calibri"/>
                <a:cs typeface="Times New Roman"/>
              </a:rPr>
              <a:t>  in the context of cloud-based </a:t>
            </a:r>
            <a:r>
              <a:rPr lang="en-US" sz="1600" dirty="0" err="1" smtClean="0">
                <a:latin typeface="Times New Roman"/>
                <a:ea typeface="Calibri"/>
                <a:cs typeface="Times New Roman"/>
              </a:rPr>
              <a:t>IoTs</a:t>
            </a:r>
            <a:r>
              <a:rPr lang="en-US" sz="1600" dirty="0" smtClean="0">
                <a:latin typeface="Times New Roman"/>
                <a:ea typeface="Calibri"/>
                <a:cs typeface="Times New Roman"/>
              </a:rPr>
              <a:t>, highlighting the significance of safeguarding transportation systems in an era of digital transformation.</a:t>
            </a:r>
            <a:endParaRPr lang="en-US" sz="1200" dirty="0">
              <a:latin typeface="Calibri"/>
              <a:ea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normAutofit fontScale="62500" lnSpcReduction="20000"/>
          </a:bodyPr>
          <a:lstStyle/>
          <a:p>
            <a:pPr algn="just">
              <a:lnSpc>
                <a:spcPct val="170000"/>
              </a:lnSpc>
            </a:pPr>
            <a:r>
              <a:rPr lang="en-US" dirty="0" smtClean="0"/>
              <a:t>Intelligent Internet of Transportation Systems can be made by putting together artificial intelligence, cloud computing, cyber security, and the storage of data.  </a:t>
            </a:r>
          </a:p>
          <a:p>
            <a:pPr algn="just">
              <a:lnSpc>
                <a:spcPct val="170000"/>
              </a:lnSpc>
            </a:pPr>
            <a:r>
              <a:rPr lang="en-US" dirty="0" smtClean="0"/>
              <a:t>Social media platforms can be affected by both AVs and </a:t>
            </a:r>
            <a:r>
              <a:rPr lang="en-US" dirty="0" err="1" smtClean="0"/>
              <a:t>cyberattacks</a:t>
            </a:r>
            <a:r>
              <a:rPr lang="en-US" dirty="0" smtClean="0"/>
              <a:t>. This could put the privacy of social media users and the information they share at risk.</a:t>
            </a:r>
          </a:p>
          <a:p>
            <a:pPr algn="just">
              <a:lnSpc>
                <a:spcPct val="170000"/>
              </a:lnSpc>
            </a:pPr>
            <a:r>
              <a:rPr lang="en-US" dirty="0" smtClean="0"/>
              <a:t>Cloud computing also poses some challenges for </a:t>
            </a:r>
            <a:r>
              <a:rPr lang="en-US" dirty="0" err="1" smtClean="0"/>
              <a:t>IoT</a:t>
            </a:r>
            <a:r>
              <a:rPr lang="en-US" dirty="0" smtClean="0"/>
              <a:t> applications, such as latency, bandwidth, reliability, and interoperability. Latency means the delay between sending and receiving data, which can affect the performance and responsiveness of </a:t>
            </a:r>
            <a:r>
              <a:rPr lang="en-US" dirty="0" err="1" smtClean="0"/>
              <a:t>IoT</a:t>
            </a:r>
            <a:r>
              <a:rPr lang="en-US" dirty="0" smtClean="0"/>
              <a:t> devices and applications.</a:t>
            </a:r>
          </a:p>
          <a:p>
            <a:pPr algn="just">
              <a:lnSpc>
                <a:spcPct val="170000"/>
              </a:lnSpc>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p:txBody>
          <a:bodyPr>
            <a:normAutofit fontScale="55000" lnSpcReduction="20000"/>
          </a:bodyPr>
          <a:lstStyle/>
          <a:p>
            <a:pPr algn="just">
              <a:lnSpc>
                <a:spcPct val="170000"/>
              </a:lnSpc>
            </a:pPr>
            <a:r>
              <a:rPr lang="en-US" dirty="0" smtClean="0"/>
              <a:t>The primary objective is to enhance the </a:t>
            </a:r>
            <a:r>
              <a:rPr lang="en-US" dirty="0" err="1" smtClean="0"/>
              <a:t>cybersecurity</a:t>
            </a:r>
            <a:r>
              <a:rPr lang="en-US" dirty="0" smtClean="0"/>
              <a:t> framework of the cloud-based Internet of Transportation Systems (</a:t>
            </a:r>
            <a:r>
              <a:rPr lang="en-US" dirty="0" err="1" smtClean="0"/>
              <a:t>IoTs</a:t>
            </a:r>
            <a:r>
              <a:rPr lang="en-US" dirty="0" smtClean="0"/>
              <a:t>) integrated with artificial intelligence. </a:t>
            </a:r>
          </a:p>
          <a:p>
            <a:pPr algn="just">
              <a:lnSpc>
                <a:spcPct val="170000"/>
              </a:lnSpc>
            </a:pPr>
            <a:r>
              <a:rPr lang="en-US" dirty="0" smtClean="0"/>
              <a:t>It also uses CP-ABE encryption method so that only authorized users can view the message. This includes:</a:t>
            </a:r>
          </a:p>
          <a:p>
            <a:pPr lvl="0" algn="just">
              <a:lnSpc>
                <a:spcPct val="170000"/>
              </a:lnSpc>
            </a:pPr>
            <a:r>
              <a:rPr lang="en-US" b="1" dirty="0" smtClean="0"/>
              <a:t>Strengthening data protection</a:t>
            </a:r>
            <a:r>
              <a:rPr lang="en-US" dirty="0" smtClean="0"/>
              <a:t>: means implementing robust encryption and access controls to safeguard sensitive information.</a:t>
            </a:r>
          </a:p>
          <a:p>
            <a:pPr lvl="0" algn="just">
              <a:lnSpc>
                <a:spcPct val="170000"/>
              </a:lnSpc>
            </a:pPr>
            <a:r>
              <a:rPr lang="en-US" b="1" dirty="0" smtClean="0"/>
              <a:t>Ensuring system reliability</a:t>
            </a:r>
            <a:r>
              <a:rPr lang="en-US" dirty="0" smtClean="0"/>
              <a:t>: means developing measures to prevent disruptions and downtime caused by cyber threats.</a:t>
            </a:r>
          </a:p>
          <a:p>
            <a:pPr lvl="0" algn="just">
              <a:lnSpc>
                <a:spcPct val="170000"/>
              </a:lnSpc>
            </a:pPr>
            <a:r>
              <a:rPr lang="en-US" b="1" dirty="0" smtClean="0"/>
              <a:t>Enhancing AI resilience: </a:t>
            </a:r>
            <a:r>
              <a:rPr lang="en-US" dirty="0" smtClean="0"/>
              <a:t>Implementing</a:t>
            </a:r>
            <a:r>
              <a:rPr lang="en-US" b="1" dirty="0" smtClean="0"/>
              <a:t> </a:t>
            </a:r>
            <a:r>
              <a:rPr lang="en-US" dirty="0" smtClean="0"/>
              <a:t>defenses against</a:t>
            </a:r>
            <a:r>
              <a:rPr lang="en-US" b="1" dirty="0" smtClean="0"/>
              <a:t> </a:t>
            </a:r>
            <a:r>
              <a:rPr lang="en-US" dirty="0" smtClean="0"/>
              <a:t>adversarial attacks on AI algorithms used in transportation systems.</a:t>
            </a:r>
          </a:p>
          <a:p>
            <a:pPr algn="just">
              <a:lnSpc>
                <a:spcPct val="170000"/>
              </a:lnSpc>
            </a:pPr>
            <a:r>
              <a:rPr lang="en-US" b="1" dirty="0" smtClean="0"/>
              <a:t>Continuous monitoring and adaptation: </a:t>
            </a:r>
            <a:r>
              <a:rPr lang="en-US" dirty="0" smtClean="0"/>
              <a:t>Establishing mechanisms for real-time threat detection and response to evolving cyber risks</a:t>
            </a:r>
            <a:r>
              <a:rPr lang="en-US" dirty="0" smtClean="0"/>
              <a:t>.</a:t>
            </a:r>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pPr algn="just">
              <a:lnSpc>
                <a:spcPct val="150000"/>
              </a:lnSpc>
            </a:pPr>
            <a:r>
              <a:rPr lang="en-US" sz="1400" b="1" dirty="0" smtClean="0"/>
              <a:t>Integrating AI With Cyber Security for Smart Industry 4.0 Application:</a:t>
            </a:r>
            <a:endParaRPr lang="en-US" sz="1400" dirty="0" smtClean="0"/>
          </a:p>
          <a:p>
            <a:pPr algn="just">
              <a:lnSpc>
                <a:spcPct val="150000"/>
              </a:lnSpc>
            </a:pPr>
            <a:r>
              <a:rPr lang="en-US" sz="1400" u="sng" dirty="0" smtClean="0">
                <a:hlinkClick r:id="rId2"/>
              </a:rPr>
              <a:t>https://ieeexplore.ieee.org/document/10134374</a:t>
            </a:r>
            <a:endParaRPr lang="en-US" sz="1400" dirty="0" smtClean="0"/>
          </a:p>
          <a:p>
            <a:pPr algn="just">
              <a:lnSpc>
                <a:spcPct val="150000"/>
              </a:lnSpc>
            </a:pPr>
            <a:r>
              <a:rPr lang="en-US" sz="1400" b="1" dirty="0" smtClean="0"/>
              <a:t>ABSTRACT:</a:t>
            </a:r>
            <a:r>
              <a:rPr lang="en-US" sz="1400" dirty="0" smtClean="0"/>
              <a:t> The advent of Smart Industry 4.0 has brought about significant advances in automation, efficiency, and productivity in industrial environments. However, these technological advances also pose new challenges for </a:t>
            </a:r>
            <a:r>
              <a:rPr lang="en-US" sz="1400" dirty="0" err="1" smtClean="0"/>
              <a:t>cybersecurity</a:t>
            </a:r>
            <a:r>
              <a:rPr lang="en-US" sz="1400" dirty="0" smtClean="0"/>
              <a:t>. The increasing interconnectivity of devices and systems within Smart Industry 4.0 environments makes them vulnerable to cyber attacks and security breaches. To address these challenges, there is a need to integrate AI with </a:t>
            </a:r>
            <a:r>
              <a:rPr lang="en-US" sz="1400" dirty="0" err="1" smtClean="0"/>
              <a:t>cybersecurity</a:t>
            </a:r>
            <a:r>
              <a:rPr lang="en-US" sz="1400" dirty="0" smtClean="0"/>
              <a:t> in Smart Industry 4.0 applications. AI can be used to analyze large amounts of data from sensors and devices within the industrial environment to detect and prevent cyber threats. Machine learning algorithms can be trained to identify patterns of normal behavior and flag any deviations as potential security threats. There are different AI-based </a:t>
            </a:r>
            <a:r>
              <a:rPr lang="en-US" sz="1400" dirty="0" err="1" smtClean="0"/>
              <a:t>cybersecurity</a:t>
            </a:r>
            <a:r>
              <a:rPr lang="en-US" sz="1400" dirty="0" smtClean="0"/>
              <a:t> techniques that can be used, such as anomaly detection, intrusion detection, and predictive analytics.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pPr algn="just">
              <a:lnSpc>
                <a:spcPct val="150000"/>
              </a:lnSpc>
            </a:pPr>
            <a:r>
              <a:rPr lang="en-US" sz="1800" b="1" dirty="0" smtClean="0"/>
              <a:t>Trustworthy Machine Learning for Securing </a:t>
            </a:r>
            <a:r>
              <a:rPr lang="en-US" sz="1800" b="1" dirty="0" err="1" smtClean="0"/>
              <a:t>IoT</a:t>
            </a:r>
            <a:r>
              <a:rPr lang="en-US" sz="1800" b="1" dirty="0" smtClean="0"/>
              <a:t> Systems:</a:t>
            </a:r>
            <a:endParaRPr lang="en-US" sz="1800" dirty="0" smtClean="0"/>
          </a:p>
          <a:p>
            <a:pPr algn="just">
              <a:lnSpc>
                <a:spcPct val="150000"/>
              </a:lnSpc>
            </a:pPr>
            <a:r>
              <a:rPr lang="en-US" sz="1800" u="sng" dirty="0" smtClean="0">
                <a:hlinkClick r:id="rId2"/>
              </a:rPr>
              <a:t>https://ieeexplore.ieee.org/document/9944835</a:t>
            </a:r>
            <a:endParaRPr lang="en-US" sz="1800" dirty="0" smtClean="0"/>
          </a:p>
          <a:p>
            <a:pPr algn="just">
              <a:lnSpc>
                <a:spcPct val="150000"/>
              </a:lnSpc>
            </a:pPr>
            <a:r>
              <a:rPr lang="en-US" sz="1800" b="1" dirty="0" smtClean="0"/>
              <a:t>ABSTRACT:</a:t>
            </a:r>
            <a:r>
              <a:rPr lang="en-US" sz="1800" dirty="0" smtClean="0"/>
              <a:t> This paper first describes the security and privacy challenges for the Internet of Things </a:t>
            </a:r>
            <a:r>
              <a:rPr lang="en-US" sz="1800" dirty="0" err="1" smtClean="0"/>
              <a:t>IoT</a:t>
            </a:r>
            <a:r>
              <a:rPr lang="en-US" sz="1800" dirty="0" smtClean="0"/>
              <a:t>) systems and then discusses some of the solutions that have been proposed. It also describes aspects of Trustworthy Machine Learning (TML) and then discusses how TML may be applied to handle some of the security and privacy challenges for </a:t>
            </a:r>
            <a:r>
              <a:rPr lang="en-US" sz="1800" dirty="0" err="1" smtClean="0"/>
              <a:t>IoT</a:t>
            </a:r>
            <a:r>
              <a:rPr lang="en-US" sz="1800" dirty="0" smtClean="0"/>
              <a:t> systems.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pPr algn="just">
              <a:lnSpc>
                <a:spcPct val="150000"/>
              </a:lnSpc>
            </a:pPr>
            <a:r>
              <a:rPr lang="en-US" sz="1400" b="1" dirty="0" smtClean="0"/>
              <a:t>Enhancing Security and Scalability of </a:t>
            </a:r>
            <a:r>
              <a:rPr lang="en-US" sz="1400" b="1" dirty="0" err="1" smtClean="0"/>
              <a:t>Metaverse</a:t>
            </a:r>
            <a:r>
              <a:rPr lang="en-US" sz="1400" b="1" dirty="0" smtClean="0"/>
              <a:t> with Blockchain-based Consensus Mechanisms:</a:t>
            </a:r>
            <a:endParaRPr lang="en-US" sz="1400" dirty="0" smtClean="0"/>
          </a:p>
          <a:p>
            <a:pPr algn="just">
              <a:lnSpc>
                <a:spcPct val="150000"/>
              </a:lnSpc>
            </a:pPr>
            <a:r>
              <a:rPr lang="en-US" sz="1400" u="sng" dirty="0" smtClean="0">
                <a:hlinkClick r:id="rId2"/>
              </a:rPr>
              <a:t>https://ieeexplore.ieee.org/document/10194035</a:t>
            </a:r>
            <a:endParaRPr lang="en-US" sz="1400" dirty="0" smtClean="0"/>
          </a:p>
          <a:p>
            <a:pPr algn="just">
              <a:lnSpc>
                <a:spcPct val="150000"/>
              </a:lnSpc>
            </a:pPr>
            <a:r>
              <a:rPr lang="en-US" sz="1400" b="1" dirty="0" smtClean="0"/>
              <a:t>ABSTRACT:</a:t>
            </a:r>
            <a:r>
              <a:rPr lang="en-US" sz="1400" dirty="0" smtClean="0"/>
              <a:t> This study examines how </a:t>
            </a:r>
            <a:r>
              <a:rPr lang="en-US" sz="1400" dirty="0" err="1" smtClean="0"/>
              <a:t>blockchain</a:t>
            </a:r>
            <a:r>
              <a:rPr lang="en-US" sz="1400" dirty="0" smtClean="0"/>
              <a:t> technology and consensus mechanisms can safeguard and grow the </a:t>
            </a:r>
            <a:r>
              <a:rPr lang="en-US" sz="1400" dirty="0" err="1" smtClean="0"/>
              <a:t>metaverse</a:t>
            </a:r>
            <a:r>
              <a:rPr lang="en-US" sz="1400" dirty="0" smtClean="0"/>
              <a:t> ecosystem. Blockchain is transparent and decentralized. It is unchangeable, cryptographically verified, and runs without a central authority. Blockchain technology can secure the </a:t>
            </a:r>
            <a:r>
              <a:rPr lang="en-US" sz="1400" dirty="0" err="1" smtClean="0"/>
              <a:t>metaverse</a:t>
            </a:r>
            <a:r>
              <a:rPr lang="en-US" sz="1400" dirty="0" smtClean="0"/>
              <a:t> and users' data. This study compares </a:t>
            </a:r>
            <a:r>
              <a:rPr lang="en-US" sz="1400" dirty="0" err="1" smtClean="0"/>
              <a:t>blockchain</a:t>
            </a:r>
            <a:r>
              <a:rPr lang="en-US" sz="1400" dirty="0" smtClean="0"/>
              <a:t>-based consensus algorithms such as POW(</a:t>
            </a:r>
            <a:r>
              <a:rPr lang="en-US" sz="1400" dirty="0" err="1" smtClean="0"/>
              <a:t>PoW</a:t>
            </a:r>
            <a:r>
              <a:rPr lang="en-US" sz="1400" dirty="0" smtClean="0"/>
              <a:t>), </a:t>
            </a:r>
            <a:r>
              <a:rPr lang="en-US" sz="1400" dirty="0" err="1" smtClean="0"/>
              <a:t>PoS</a:t>
            </a:r>
            <a:r>
              <a:rPr lang="en-US" sz="1400" dirty="0" smtClean="0"/>
              <a:t>, and PBFT to ensure </a:t>
            </a:r>
            <a:r>
              <a:rPr lang="en-US" sz="1400" dirty="0" err="1" smtClean="0"/>
              <a:t>metaverse</a:t>
            </a:r>
            <a:r>
              <a:rPr lang="en-US" sz="1400" dirty="0" smtClean="0"/>
              <a:t> safety. These consensus mechanisms provide safe, decentralized transaction verification, waste reduction, and network consensus. Studying </a:t>
            </a:r>
            <a:r>
              <a:rPr lang="en-US" sz="1400" dirty="0" err="1" smtClean="0"/>
              <a:t>blockchain</a:t>
            </a:r>
            <a:r>
              <a:rPr lang="en-US" sz="1400" dirty="0" smtClean="0"/>
              <a:t> technology's </a:t>
            </a:r>
            <a:r>
              <a:rPr lang="en-US" sz="1400" dirty="0" err="1" smtClean="0"/>
              <a:t>metaverse</a:t>
            </a:r>
            <a:r>
              <a:rPr lang="en-US" sz="1400" dirty="0" smtClean="0"/>
              <a:t> scaling restrictions and scaling solutions, including </a:t>
            </a:r>
            <a:r>
              <a:rPr lang="en-US" sz="1400" dirty="0" err="1" smtClean="0"/>
              <a:t>sharding</a:t>
            </a:r>
            <a:r>
              <a:rPr lang="en-US" sz="1400" dirty="0" smtClean="0"/>
              <a:t>, </a:t>
            </a:r>
            <a:r>
              <a:rPr lang="en-US" sz="1400" dirty="0" err="1" smtClean="0"/>
              <a:t>sidechains</a:t>
            </a:r>
            <a:r>
              <a:rPr lang="en-US" sz="1400" dirty="0" smtClean="0"/>
              <a:t>, and off-chain protocols. These methods increase throughput, parallel computing, and transaction speed.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pPr algn="just">
              <a:lnSpc>
                <a:spcPct val="150000"/>
              </a:lnSpc>
            </a:pPr>
            <a:r>
              <a:rPr lang="en-US" sz="1800" b="1" dirty="0" smtClean="0"/>
              <a:t>Towards a Privacy-Aware Quantified Self Data Management Framework:</a:t>
            </a:r>
            <a:endParaRPr lang="en-US" sz="1800" dirty="0" smtClean="0"/>
          </a:p>
          <a:p>
            <a:pPr algn="just">
              <a:lnSpc>
                <a:spcPct val="150000"/>
              </a:lnSpc>
            </a:pPr>
            <a:r>
              <a:rPr lang="en-US" sz="1800" u="sng" dirty="0" smtClean="0">
                <a:hlinkClick r:id="rId2"/>
              </a:rPr>
              <a:t>https://dl.acm.org/doi/abs/10.1145/3205977.3205997</a:t>
            </a:r>
            <a:endParaRPr lang="en-US" sz="1800" dirty="0" smtClean="0"/>
          </a:p>
          <a:p>
            <a:pPr algn="just">
              <a:lnSpc>
                <a:spcPct val="150000"/>
              </a:lnSpc>
            </a:pPr>
            <a:r>
              <a:rPr lang="en-US" sz="1800" b="1" dirty="0" smtClean="0"/>
              <a:t>ABSTRACT:</a:t>
            </a:r>
            <a:r>
              <a:rPr lang="en-US" sz="1800" dirty="0" smtClean="0"/>
              <a:t> Massive amounts of data are being collected, stored, and analyzed for various business and marketing purposes. While such data analysis is critical for many applications, it could also violate the privacy of individuals. This paper describes the issues involved in designing a privacy aware data management framework for collecting, storing, and analyzing the data. We also discuss behavioral aspects of data sharing as well as aspects of a formal framework based on rewriting rules that encompasses the privacy aware data management framework.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a:t>
            </a:r>
            <a:endParaRPr lang="en-US" dirty="0"/>
          </a:p>
        </p:txBody>
      </p:sp>
      <p:sp>
        <p:nvSpPr>
          <p:cNvPr id="3" name="Content Placeholder 2"/>
          <p:cNvSpPr>
            <a:spLocks noGrp="1"/>
          </p:cNvSpPr>
          <p:nvPr>
            <p:ph idx="1"/>
          </p:nvPr>
        </p:nvSpPr>
        <p:spPr/>
        <p:txBody>
          <a:bodyPr>
            <a:noAutofit/>
          </a:bodyPr>
          <a:lstStyle/>
          <a:p>
            <a:pPr algn="just">
              <a:lnSpc>
                <a:spcPct val="150000"/>
              </a:lnSpc>
            </a:pPr>
            <a:r>
              <a:rPr lang="en-US" sz="1600" b="1" dirty="0" smtClean="0"/>
              <a:t>Application of User and Entity Behavioral Analytics (UEBA) in the Detection of Cyber Threats and Vulnerabilities Management:</a:t>
            </a:r>
            <a:endParaRPr lang="en-US" sz="1600" dirty="0" smtClean="0"/>
          </a:p>
          <a:p>
            <a:pPr algn="just">
              <a:lnSpc>
                <a:spcPct val="150000"/>
              </a:lnSpc>
            </a:pPr>
            <a:r>
              <a:rPr lang="en-US" sz="1600" u="sng" dirty="0" smtClean="0">
                <a:hlinkClick r:id="rId2"/>
              </a:rPr>
              <a:t>https://www.researchgate.net/publication/370406719_Application_of_User_and_Entity_Behavioral_Analytics_UEBA_in_the_Detection_of_Cyber_Threats_and_Vulnerabilities_Management</a:t>
            </a:r>
            <a:endParaRPr lang="en-US" sz="1600" dirty="0" smtClean="0"/>
          </a:p>
          <a:p>
            <a:pPr algn="just">
              <a:lnSpc>
                <a:spcPct val="150000"/>
              </a:lnSpc>
            </a:pPr>
            <a:r>
              <a:rPr lang="en-US" sz="1600" b="1" dirty="0" smtClean="0"/>
              <a:t>ABSTRACT:</a:t>
            </a:r>
            <a:r>
              <a:rPr lang="en-US" sz="1600" dirty="0" smtClean="0"/>
              <a:t> Technological advancements such as the Internet of Things, mobile technology, and cloud computing are embraced by organizations, individuals, and society. The world is becoming more reliant on open networks, which fosters global communication and cloud technologies like Amazon Web Services to store sensitive data and personal information. This changes the danger landscape and opens new opportunities. As the number of people who use the Internet grows, so does the number of cyber risks and data security challenges that hackers pose. </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idx="1"/>
          </p:nvPr>
        </p:nvSpPr>
        <p:spPr/>
        <p:txBody>
          <a:bodyPr>
            <a:normAutofit/>
          </a:bodyPr>
          <a:lstStyle/>
          <a:p>
            <a:pPr algn="just">
              <a:lnSpc>
                <a:spcPct val="150000"/>
              </a:lnSpc>
              <a:spcAft>
                <a:spcPts val="0"/>
              </a:spcAft>
            </a:pPr>
            <a:r>
              <a:rPr lang="en-US" sz="1800" dirty="0" smtClean="0">
                <a:latin typeface="Times New Roman"/>
                <a:ea typeface="Times New Roman"/>
                <a:cs typeface="Times New Roman"/>
              </a:rPr>
              <a:t>The existing system faces significant </a:t>
            </a:r>
            <a:r>
              <a:rPr lang="en-US" sz="1800" dirty="0" err="1" smtClean="0">
                <a:latin typeface="Times New Roman"/>
                <a:ea typeface="Times New Roman"/>
                <a:cs typeface="Times New Roman"/>
              </a:rPr>
              <a:t>cybersecurity</a:t>
            </a:r>
            <a:r>
              <a:rPr lang="en-US" sz="1800" dirty="0" smtClean="0">
                <a:latin typeface="Times New Roman"/>
                <a:ea typeface="Times New Roman"/>
                <a:cs typeface="Times New Roman"/>
              </a:rPr>
              <a:t> vulnerabilities within its cloud-based internet of Transportation Systems (</a:t>
            </a:r>
            <a:r>
              <a:rPr lang="en-US" sz="1800" dirty="0" err="1" smtClean="0">
                <a:latin typeface="Times New Roman"/>
                <a:ea typeface="Times New Roman"/>
                <a:cs typeface="Times New Roman"/>
              </a:rPr>
              <a:t>IoTs</a:t>
            </a:r>
            <a:r>
              <a:rPr lang="en-US" sz="1800" dirty="0" smtClean="0">
                <a:latin typeface="Times New Roman"/>
                <a:ea typeface="Times New Roman"/>
                <a:cs typeface="Times New Roman"/>
              </a:rPr>
              <a:t>).</a:t>
            </a:r>
            <a:endParaRPr lang="en-US" sz="1400" dirty="0" smtClean="0">
              <a:latin typeface="Calibri"/>
              <a:ea typeface="Times New Roman"/>
              <a:cs typeface="Times New Roman"/>
            </a:endParaRPr>
          </a:p>
          <a:p>
            <a:pPr algn="just">
              <a:lnSpc>
                <a:spcPct val="150000"/>
              </a:lnSpc>
              <a:spcAft>
                <a:spcPts val="0"/>
              </a:spcAft>
            </a:pPr>
            <a:r>
              <a:rPr lang="en-US" sz="1800" dirty="0" smtClean="0">
                <a:latin typeface="Times New Roman"/>
                <a:ea typeface="Times New Roman"/>
                <a:cs typeface="Times New Roman"/>
              </a:rPr>
              <a:t>Weakness includes potential data breaches, system disruptions, and the susceptibility of AI algorithms to exploitation. These challenges compromise the integrity and safety of transportation networks, necessitating a comprehensive reassessment of the current security measures to fortify against evolving cyber threats in the rapidly advancing technological landscape.</a:t>
            </a:r>
            <a:endParaRPr lang="en-US" sz="1400" dirty="0">
              <a:latin typeface="Calibri"/>
              <a:ea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DRAWBACKS OF EXISTING SYSTEM</a:t>
            </a:r>
            <a:endParaRPr lang="en-US" dirty="0"/>
          </a:p>
        </p:txBody>
      </p:sp>
      <p:sp>
        <p:nvSpPr>
          <p:cNvPr id="3" name="Content Placeholder 2"/>
          <p:cNvSpPr>
            <a:spLocks noGrp="1"/>
          </p:cNvSpPr>
          <p:nvPr>
            <p:ph idx="1"/>
          </p:nvPr>
        </p:nvSpPr>
        <p:spPr/>
        <p:txBody>
          <a:bodyPr>
            <a:normAutofit/>
          </a:bodyPr>
          <a:lstStyle/>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Vulnerable to security breaches.</a:t>
            </a:r>
            <a:endParaRPr lang="en-US" sz="2000" b="1" kern="0" dirty="0" smtClean="0">
              <a:latin typeface="Times New Roman"/>
              <a:ea typeface="Times New Roman"/>
            </a:endParaRPr>
          </a:p>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Risks associated with improper data transfers.</a:t>
            </a:r>
            <a:endParaRPr lang="en-US" sz="2000" b="1" kern="0" dirty="0" smtClean="0">
              <a:latin typeface="Times New Roman"/>
              <a:ea typeface="Times New Roman"/>
            </a:endParaRPr>
          </a:p>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Increased susceptibility to cyber attacks and unauthorized access.</a:t>
            </a:r>
            <a:endParaRPr lang="en-US" sz="2000" b="1" kern="0" dirty="0">
              <a:latin typeface="Times New Roman"/>
              <a:ea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idx="1"/>
          </p:nvPr>
        </p:nvSpPr>
        <p:spPr/>
        <p:txBody>
          <a:bodyPr>
            <a:normAutofit/>
          </a:bodyPr>
          <a:lstStyle/>
          <a:p>
            <a:pPr marL="139700" marR="17145" algn="just">
              <a:lnSpc>
                <a:spcPct val="150000"/>
              </a:lnSpc>
              <a:spcBef>
                <a:spcPts val="25"/>
              </a:spcBef>
              <a:spcAft>
                <a:spcPts val="0"/>
              </a:spcAft>
              <a:tabLst>
                <a:tab pos="597535" algn="l"/>
              </a:tabLst>
            </a:pPr>
            <a:r>
              <a:rPr lang="en-US" sz="2000" kern="0" dirty="0" smtClean="0">
                <a:latin typeface="Times New Roman"/>
                <a:ea typeface="Times New Roman"/>
              </a:rPr>
              <a:t>In proposed system we are implementing Cyber Security (CS) based data transfer to Autonomous vehicle to overcome the existing problems. Here a cloud is the mediator that which transfers sender files to autonomous vehicle with more security we are using CP-ABE based algorithm which is used to hide the transferred data into cipher text. The cipher text can be decrypted by the private key generated by sender to the particular AV. </a:t>
            </a:r>
            <a:endParaRPr lang="en-US" sz="2000" b="1" kern="0" dirty="0">
              <a:latin typeface="Times New Roman"/>
              <a:ea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PROPOSED SYSTEM</a:t>
            </a:r>
            <a:endParaRPr lang="en-US" dirty="0"/>
          </a:p>
        </p:txBody>
      </p:sp>
      <p:sp>
        <p:nvSpPr>
          <p:cNvPr id="3" name="Content Placeholder 2"/>
          <p:cNvSpPr>
            <a:spLocks noGrp="1"/>
          </p:cNvSpPr>
          <p:nvPr>
            <p:ph idx="1"/>
          </p:nvPr>
        </p:nvSpPr>
        <p:spPr/>
        <p:txBody>
          <a:bodyPr>
            <a:normAutofit/>
          </a:bodyPr>
          <a:lstStyle/>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Enhanced security measures bolster protection against breaches, ensuring robust defenses against unauthorized access and data compromise</a:t>
            </a:r>
            <a:r>
              <a:rPr lang="en-US" sz="1600" b="1" dirty="0" smtClean="0">
                <a:latin typeface="Times New Roman"/>
                <a:ea typeface="Times New Roman"/>
                <a:cs typeface="Times New Roman"/>
              </a:rPr>
              <a:t>.</a:t>
            </a:r>
            <a:r>
              <a:rPr lang="en-US" sz="1200" dirty="0" smtClean="0">
                <a:latin typeface="Calibri"/>
                <a:ea typeface="Times New Roman"/>
                <a:cs typeface="Times New Roman"/>
              </a:rPr>
              <a:t> </a:t>
            </a:r>
          </a:p>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Precision in data transmission minimizes errors, optimizing reliability and promoting seamless, accurate information exchange.</a:t>
            </a:r>
            <a:endParaRPr lang="en-US" sz="1400" b="1" dirty="0" smtClean="0">
              <a:latin typeface="Cambria"/>
              <a:ea typeface="Times New Roman"/>
              <a:cs typeface="Times New Roman"/>
            </a:endParaRPr>
          </a:p>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Reduced cyber attack susceptibility through proactive measures fortifies systems, safeguarding against threats and enhancing overall digital resilience.</a:t>
            </a:r>
            <a:endParaRPr lang="en-US" sz="1400" b="1" dirty="0">
              <a:latin typeface="Cambria"/>
              <a:ea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REQUIREMENTS</a:t>
            </a:r>
            <a:endParaRPr lang="en-US" dirty="0"/>
          </a:p>
        </p:txBody>
      </p:sp>
      <p:sp>
        <p:nvSpPr>
          <p:cNvPr id="5" name="Text Placeholder 4"/>
          <p:cNvSpPr>
            <a:spLocks noGrp="1"/>
          </p:cNvSpPr>
          <p:nvPr>
            <p:ph type="body" idx="1"/>
          </p:nvPr>
        </p:nvSpPr>
        <p:spPr/>
        <p:txBody>
          <a:bodyPr/>
          <a:lstStyle/>
          <a:p>
            <a:r>
              <a:rPr smtClean="0"/>
              <a:t>SOFTWARE</a:t>
            </a:r>
            <a:endParaRPr lang="en-US" dirty="0"/>
          </a:p>
        </p:txBody>
      </p:sp>
      <p:sp>
        <p:nvSpPr>
          <p:cNvPr id="7" name="Text Placeholder 6"/>
          <p:cNvSpPr>
            <a:spLocks noGrp="1"/>
          </p:cNvSpPr>
          <p:nvPr>
            <p:ph type="body" sz="half" idx="3"/>
          </p:nvPr>
        </p:nvSpPr>
        <p:spPr/>
        <p:txBody>
          <a:bodyPr/>
          <a:lstStyle/>
          <a:p>
            <a:r>
              <a:rPr lang="en-US" dirty="0" smtClean="0"/>
              <a:t>HARDWARE</a:t>
            </a:r>
            <a:endParaRPr lang="en-US" dirty="0"/>
          </a:p>
        </p:txBody>
      </p:sp>
      <p:sp>
        <p:nvSpPr>
          <p:cNvPr id="6" name="Content Placeholder 5"/>
          <p:cNvSpPr>
            <a:spLocks noGrp="1"/>
          </p:cNvSpPr>
          <p:nvPr>
            <p:ph sz="quarter" idx="2"/>
          </p:nvPr>
        </p:nvSpPr>
        <p:spPr/>
        <p:txBody>
          <a:bodyPr>
            <a:noAutofit/>
          </a:bodyPr>
          <a:lstStyle/>
          <a:p>
            <a:pPr algn="just">
              <a:lnSpc>
                <a:spcPct val="150000"/>
              </a:lnSpc>
            </a:pPr>
            <a:r>
              <a:rPr lang="en-US" sz="1600" b="1" dirty="0"/>
              <a:t>1) FRAME WORK - FLASK/DJANGO</a:t>
            </a:r>
            <a:endParaRPr lang="en-US" sz="1600" dirty="0"/>
          </a:p>
          <a:p>
            <a:pPr algn="just">
              <a:lnSpc>
                <a:spcPct val="150000"/>
              </a:lnSpc>
            </a:pPr>
            <a:r>
              <a:rPr lang="en-US" sz="1600" b="1" dirty="0"/>
              <a:t>2) DATABASE - MYSQL WORK BENCH/SQLITE 3</a:t>
            </a:r>
            <a:endParaRPr lang="en-US" sz="1600" dirty="0"/>
          </a:p>
          <a:p>
            <a:pPr algn="just">
              <a:lnSpc>
                <a:spcPct val="150000"/>
              </a:lnSpc>
            </a:pPr>
            <a:r>
              <a:rPr lang="en-US" sz="1600" b="1" dirty="0"/>
              <a:t>3) USER INTERFACE LANGUAGES - HTML, CSS, JS, BOOTSTRAP 4</a:t>
            </a:r>
            <a:endParaRPr lang="en-US" sz="1600" dirty="0"/>
          </a:p>
          <a:p>
            <a:pPr algn="just">
              <a:lnSpc>
                <a:spcPct val="150000"/>
              </a:lnSpc>
            </a:pPr>
            <a:r>
              <a:rPr lang="en-US" sz="1600" b="1" dirty="0"/>
              <a:t>4) FRONTEND LANGUAGES - PYHTON</a:t>
            </a:r>
            <a:endParaRPr lang="en-US" sz="1600" dirty="0"/>
          </a:p>
          <a:p>
            <a:pPr algn="just">
              <a:lnSpc>
                <a:spcPct val="150000"/>
              </a:lnSpc>
            </a:pPr>
            <a:r>
              <a:rPr lang="en-US" sz="1600" b="1" dirty="0"/>
              <a:t>5) SOFTWARE INSTALLED - PYTHON IDLE (3.7.0)</a:t>
            </a:r>
            <a:endParaRPr lang="en-US" sz="1600" dirty="0"/>
          </a:p>
        </p:txBody>
      </p:sp>
      <p:sp>
        <p:nvSpPr>
          <p:cNvPr id="8" name="Content Placeholder 7"/>
          <p:cNvSpPr>
            <a:spLocks noGrp="1"/>
          </p:cNvSpPr>
          <p:nvPr>
            <p:ph sz="quarter" idx="4"/>
          </p:nvPr>
        </p:nvSpPr>
        <p:spPr/>
        <p:txBody>
          <a:bodyPr>
            <a:normAutofit/>
          </a:bodyPr>
          <a:lstStyle/>
          <a:p>
            <a:pPr algn="just">
              <a:lnSpc>
                <a:spcPct val="150000"/>
              </a:lnSpc>
            </a:pPr>
            <a:r>
              <a:rPr lang="en-US" sz="1600" b="1" dirty="0"/>
              <a:t>1)Operating System : Windows Only</a:t>
            </a:r>
            <a:endParaRPr lang="en-US" sz="1600" dirty="0"/>
          </a:p>
          <a:p>
            <a:pPr algn="just">
              <a:lnSpc>
                <a:spcPct val="150000"/>
              </a:lnSpc>
            </a:pPr>
            <a:r>
              <a:rPr lang="en-US" sz="1600" b="1" dirty="0"/>
              <a:t>2)Processor : i5 and above</a:t>
            </a:r>
            <a:endParaRPr lang="en-US" sz="1600" dirty="0"/>
          </a:p>
          <a:p>
            <a:pPr algn="just">
              <a:lnSpc>
                <a:spcPct val="150000"/>
              </a:lnSpc>
            </a:pPr>
            <a:r>
              <a:rPr lang="en-US" sz="1600" b="1" dirty="0"/>
              <a:t>3)Ram : 8gb and above </a:t>
            </a:r>
            <a:endParaRPr lang="en-US" sz="1600" dirty="0"/>
          </a:p>
          <a:p>
            <a:pPr algn="just">
              <a:lnSpc>
                <a:spcPct val="150000"/>
              </a:lnSpc>
            </a:pPr>
            <a:r>
              <a:rPr lang="en-US" sz="1600" b="1" dirty="0"/>
              <a:t>4)Hard Disk : 25 GB in local drive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6" name="Content Placeholder 5"/>
          <p:cNvPicPr>
            <a:picLocks noGrp="1"/>
          </p:cNvPicPr>
          <p:nvPr>
            <p:ph idx="1"/>
          </p:nvPr>
        </p:nvPicPr>
        <p:blipFill>
          <a:blip r:embed="rId2"/>
          <a:srcRect/>
          <a:stretch>
            <a:fillRect/>
          </a:stretch>
        </p:blipFill>
        <p:spPr bwMode="auto">
          <a:xfrm>
            <a:off x="1909390" y="1677669"/>
            <a:ext cx="5325219" cy="455358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596" y="3071810"/>
            <a:ext cx="8534400" cy="758952"/>
          </a:xfrm>
        </p:spPr>
        <p:txBody>
          <a:bodyPr>
            <a:noAutofit/>
          </a:bodyPr>
          <a:lstStyle/>
          <a:p>
            <a:r>
              <a:rPr lang="en-US" sz="6600" b="1" dirty="0" smtClean="0">
                <a:solidFill>
                  <a:schemeClr val="tx1"/>
                </a:solidFill>
              </a:rPr>
              <a:t>UML DIAGRAMS</a:t>
            </a:r>
            <a:endParaRPr lang="en-US" sz="6600" b="1"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DATA FLOW DIAGRAM</a:t>
            </a:r>
            <a:endParaRPr lang="en-US" dirty="0"/>
          </a:p>
        </p:txBody>
      </p:sp>
      <p:pic>
        <p:nvPicPr>
          <p:cNvPr id="3" name="Content Placeholder 2"/>
          <p:cNvPicPr>
            <a:picLocks noGrp="1" noChangeAspect="1" noChangeArrowheads="1"/>
          </p:cNvPicPr>
          <p:nvPr>
            <p:ph idx="1"/>
          </p:nvPr>
        </p:nvPicPr>
        <p:blipFill>
          <a:blip r:embed="rId2"/>
          <a:stretch>
            <a:fillRect/>
          </a:stretch>
        </p:blipFill>
        <p:spPr bwMode="auto">
          <a:xfrm>
            <a:off x="1685580" y="1600200"/>
            <a:ext cx="5772839" cy="470852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DIAGRAM</a:t>
            </a:r>
            <a:endParaRPr lang="en-US" dirty="0"/>
          </a:p>
        </p:txBody>
      </p:sp>
      <p:pic>
        <p:nvPicPr>
          <p:cNvPr id="6" name="Content Placeholder 5"/>
          <p:cNvPicPr>
            <a:picLocks noGrp="1"/>
          </p:cNvPicPr>
          <p:nvPr>
            <p:ph idx="1"/>
          </p:nvPr>
        </p:nvPicPr>
        <p:blipFill>
          <a:blip r:embed="rId2"/>
          <a:srcRect/>
          <a:stretch>
            <a:fillRect/>
          </a:stretch>
        </p:blipFill>
        <p:spPr bwMode="auto">
          <a:xfrm>
            <a:off x="457200" y="2072198"/>
            <a:ext cx="8229600" cy="376452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a:t>
            </a:r>
            <a:endParaRPr lang="en-US" dirty="0"/>
          </a:p>
        </p:txBody>
      </p:sp>
      <p:pic>
        <p:nvPicPr>
          <p:cNvPr id="6" name="Content Placeholder 5"/>
          <p:cNvPicPr>
            <a:picLocks noGrp="1"/>
          </p:cNvPicPr>
          <p:nvPr>
            <p:ph idx="1"/>
          </p:nvPr>
        </p:nvPicPr>
        <p:blipFill>
          <a:blip r:embed="rId2"/>
          <a:srcRect/>
          <a:stretch>
            <a:fillRect/>
          </a:stretch>
        </p:blipFill>
        <p:spPr bwMode="auto">
          <a:xfrm>
            <a:off x="1051366" y="1600200"/>
            <a:ext cx="7041268" cy="470852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a:t>
            </a:r>
            <a:endParaRPr lang="en-US" dirty="0"/>
          </a:p>
        </p:txBody>
      </p:sp>
      <p:pic>
        <p:nvPicPr>
          <p:cNvPr id="5" name="Content Placeholder 4"/>
          <p:cNvPicPr>
            <a:picLocks noGrp="1"/>
          </p:cNvPicPr>
          <p:nvPr>
            <p:ph idx="1"/>
          </p:nvPr>
        </p:nvPicPr>
        <p:blipFill>
          <a:blip r:embed="rId2"/>
          <a:srcRect/>
          <a:stretch>
            <a:fillRect/>
          </a:stretch>
        </p:blipFill>
        <p:spPr bwMode="auto">
          <a:xfrm>
            <a:off x="2628900" y="1806575"/>
            <a:ext cx="3886200" cy="42957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a:t>
            </a:r>
            <a:endParaRPr lang="en-US" dirty="0"/>
          </a:p>
        </p:txBody>
      </p:sp>
      <p:pic>
        <p:nvPicPr>
          <p:cNvPr id="6" name="Content Placeholder 5"/>
          <p:cNvPicPr>
            <a:picLocks noGrp="1"/>
          </p:cNvPicPr>
          <p:nvPr>
            <p:ph idx="1"/>
          </p:nvPr>
        </p:nvPicPr>
        <p:blipFill>
          <a:blip r:embed="rId2"/>
          <a:srcRect/>
          <a:stretch>
            <a:fillRect/>
          </a:stretch>
        </p:blipFill>
        <p:spPr bwMode="auto">
          <a:xfrm>
            <a:off x="457200" y="2000813"/>
            <a:ext cx="8229600" cy="390729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COLLABORATION DIAGRAM</a:t>
            </a:r>
            <a:endParaRPr lang="en-US" dirty="0"/>
          </a:p>
        </p:txBody>
      </p:sp>
      <p:pic>
        <p:nvPicPr>
          <p:cNvPr id="6" name="Content Placeholder 5"/>
          <p:cNvPicPr>
            <a:picLocks noGrp="1"/>
          </p:cNvPicPr>
          <p:nvPr>
            <p:ph idx="1"/>
          </p:nvPr>
        </p:nvPicPr>
        <p:blipFill>
          <a:blip r:embed="rId2"/>
          <a:srcRect/>
          <a:stretch>
            <a:fillRect/>
          </a:stretch>
        </p:blipFill>
        <p:spPr bwMode="auto">
          <a:xfrm>
            <a:off x="652462" y="1858962"/>
            <a:ext cx="7839075" cy="4191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DIAGRAM</a:t>
            </a:r>
            <a:endParaRPr lang="en-US" dirty="0"/>
          </a:p>
        </p:txBody>
      </p:sp>
      <p:pic>
        <p:nvPicPr>
          <p:cNvPr id="6" name="Content Placeholder 5"/>
          <p:cNvPicPr>
            <a:picLocks noGrp="1"/>
          </p:cNvPicPr>
          <p:nvPr>
            <p:ph idx="1"/>
          </p:nvPr>
        </p:nvPicPr>
        <p:blipFill>
          <a:blip r:embed="rId2"/>
          <a:srcRect/>
          <a:stretch>
            <a:fillRect/>
          </a:stretch>
        </p:blipFill>
        <p:spPr bwMode="auto">
          <a:xfrm>
            <a:off x="2387079" y="1600200"/>
            <a:ext cx="4369842" cy="47085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DIAGRAM</a:t>
            </a:r>
            <a:endParaRPr lang="en-US" dirty="0"/>
          </a:p>
        </p:txBody>
      </p:sp>
      <p:pic>
        <p:nvPicPr>
          <p:cNvPr id="5" name="Content Placeholder 4"/>
          <p:cNvPicPr>
            <a:picLocks noGrp="1"/>
          </p:cNvPicPr>
          <p:nvPr>
            <p:ph idx="1"/>
          </p:nvPr>
        </p:nvPicPr>
        <p:blipFill>
          <a:blip r:embed="rId2"/>
          <a:srcRect/>
          <a:stretch>
            <a:fillRect/>
          </a:stretch>
        </p:blipFill>
        <p:spPr bwMode="auto">
          <a:xfrm>
            <a:off x="2342964" y="1600200"/>
            <a:ext cx="4458072" cy="47085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900"/>
            <a:ext cx="8229600" cy="1143000"/>
          </a:xfrm>
        </p:spPr>
        <p:txBody>
          <a:bodyPr/>
          <a:lstStyle/>
          <a:p>
            <a:r>
              <a:rPr lang="en-US" dirty="0" smtClean="0"/>
              <a:t>IMPLEMENTATION</a:t>
            </a:r>
            <a:endParaRPr lang="en-US" dirty="0"/>
          </a:p>
        </p:txBody>
      </p:sp>
      <p:sp>
        <p:nvSpPr>
          <p:cNvPr id="3" name="Content Placeholder 2"/>
          <p:cNvSpPr>
            <a:spLocks noGrp="1"/>
          </p:cNvSpPr>
          <p:nvPr>
            <p:ph idx="1"/>
          </p:nvPr>
        </p:nvSpPr>
        <p:spPr>
          <a:xfrm>
            <a:off x="457200" y="785794"/>
            <a:ext cx="8229600" cy="5857916"/>
          </a:xfrm>
        </p:spPr>
        <p:txBody>
          <a:bodyPr>
            <a:noAutofit/>
          </a:bodyPr>
          <a:lstStyle/>
          <a:p>
            <a:pPr algn="just">
              <a:lnSpc>
                <a:spcPct val="150000"/>
              </a:lnSpc>
              <a:spcBef>
                <a:spcPts val="1200"/>
              </a:spcBef>
              <a:spcAft>
                <a:spcPts val="1000"/>
              </a:spcAft>
            </a:pPr>
            <a:r>
              <a:rPr lang="en-US" sz="1050" dirty="0" smtClean="0">
                <a:latin typeface="Times New Roman"/>
                <a:ea typeface="Times New Roman"/>
                <a:cs typeface="Times New Roman"/>
              </a:rPr>
              <a:t>To implement this project we have designed two modules</a:t>
            </a:r>
            <a:endParaRPr lang="en-US" sz="1050" dirty="0" smtClean="0">
              <a:latin typeface="Calibri"/>
              <a:ea typeface="Times New Roman"/>
              <a:cs typeface="Times New Roman"/>
            </a:endParaRPr>
          </a:p>
          <a:p>
            <a:pPr marL="342900" lvl="0" indent="-342900" algn="just">
              <a:lnSpc>
                <a:spcPct val="115000"/>
              </a:lnSpc>
              <a:spcAft>
                <a:spcPts val="0"/>
              </a:spcAft>
              <a:buFont typeface="+mj-lt"/>
              <a:buAutoNum type="arabicPeriod"/>
            </a:pPr>
            <a:r>
              <a:rPr lang="en-US" sz="1050" b="1" dirty="0" smtClean="0">
                <a:latin typeface="Times New Roman"/>
                <a:ea typeface="Times New Roman"/>
                <a:cs typeface="Times New Roman"/>
              </a:rPr>
              <a:t>User Module:**</a:t>
            </a:r>
            <a:endParaRPr lang="en-US" sz="1050" dirty="0" smtClean="0">
              <a:latin typeface="Calibri"/>
              <a:ea typeface="Times New Roman"/>
              <a:cs typeface="Times New Roman"/>
            </a:endParaRPr>
          </a:p>
          <a:p>
            <a:pPr marL="457200" algn="just">
              <a:lnSpc>
                <a:spcPct val="115000"/>
              </a:lnSpc>
              <a:spcAft>
                <a:spcPts val="1000"/>
              </a:spcAft>
            </a:pPr>
            <a:r>
              <a:rPr lang="en-US" sz="1050" b="1" dirty="0" smtClean="0">
                <a:latin typeface="Times New Roman"/>
                <a:ea typeface="Times New Roman"/>
                <a:cs typeface="Times New Roman"/>
              </a:rPr>
              <a:t>The key features of this user module include:</a:t>
            </a:r>
            <a:endParaRPr lang="en-US" sz="1050" dirty="0" smtClean="0">
              <a:latin typeface="Calibri"/>
              <a:ea typeface="Times New Roman"/>
              <a:cs typeface="Times New Roman"/>
            </a:endParaRPr>
          </a:p>
          <a:p>
            <a:pPr algn="just">
              <a:lnSpc>
                <a:spcPct val="115000"/>
              </a:lnSpc>
              <a:spcAft>
                <a:spcPts val="1000"/>
              </a:spcAft>
            </a:pPr>
            <a:r>
              <a:rPr lang="en-US" sz="1050" b="1" dirty="0" smtClean="0">
                <a:latin typeface="Times New Roman"/>
                <a:ea typeface="Times New Roman"/>
                <a:cs typeface="Times New Roman"/>
              </a:rPr>
              <a:t> - New User Signup:</a:t>
            </a:r>
            <a:endParaRPr lang="en-US" sz="1050" dirty="0" smtClean="0">
              <a:latin typeface="Calibri"/>
              <a:ea typeface="Times New Roman"/>
              <a:cs typeface="Times New Roman"/>
            </a:endParaRPr>
          </a:p>
          <a:p>
            <a:pPr algn="just">
              <a:lnSpc>
                <a:spcPct val="115000"/>
              </a:lnSpc>
              <a:spcAft>
                <a:spcPts val="1000"/>
              </a:spcAft>
            </a:pPr>
            <a:r>
              <a:rPr lang="en-US" sz="1050" dirty="0" smtClean="0">
                <a:latin typeface="Times New Roman"/>
                <a:ea typeface="Times New Roman"/>
                <a:cs typeface="Times New Roman"/>
              </a:rPr>
              <a:t>This module allows a new user to sign up for the system. The user provides necessary information like username, email, and password to create an account.</a:t>
            </a:r>
            <a:endParaRPr lang="en-US" sz="1050" dirty="0" smtClean="0">
              <a:latin typeface="Calibri"/>
              <a:ea typeface="Times New Roman"/>
              <a:cs typeface="Times New Roman"/>
            </a:endParaRPr>
          </a:p>
          <a:p>
            <a:pPr algn="just">
              <a:lnSpc>
                <a:spcPct val="115000"/>
              </a:lnSpc>
              <a:spcAft>
                <a:spcPts val="1000"/>
              </a:spcAft>
            </a:pPr>
            <a:r>
              <a:rPr lang="en-US" sz="1050" b="1" dirty="0" smtClean="0">
                <a:latin typeface="Times New Roman"/>
                <a:ea typeface="Times New Roman"/>
                <a:cs typeface="Times New Roman"/>
              </a:rPr>
              <a:t> - User Login:</a:t>
            </a:r>
            <a:endParaRPr lang="en-US" sz="1050" dirty="0" smtClean="0">
              <a:latin typeface="Calibri"/>
              <a:ea typeface="Times New Roman"/>
              <a:cs typeface="Times New Roman"/>
            </a:endParaRPr>
          </a:p>
          <a:p>
            <a:pPr algn="just">
              <a:lnSpc>
                <a:spcPct val="115000"/>
              </a:lnSpc>
              <a:spcAft>
                <a:spcPts val="1000"/>
              </a:spcAft>
            </a:pPr>
            <a:r>
              <a:rPr lang="en-US" sz="1050" dirty="0" smtClean="0">
                <a:latin typeface="Times New Roman"/>
                <a:ea typeface="Times New Roman"/>
                <a:cs typeface="Times New Roman"/>
              </a:rPr>
              <a:t>Users who have signed up can log in using their credentials (username and password). This module authenticates the user and provides access to their account.</a:t>
            </a:r>
            <a:endParaRPr lang="en-US" sz="1050" dirty="0" smtClean="0">
              <a:latin typeface="Calibri"/>
              <a:ea typeface="Times New Roman"/>
              <a:cs typeface="Times New Roman"/>
            </a:endParaRPr>
          </a:p>
          <a:p>
            <a:pPr algn="just">
              <a:lnSpc>
                <a:spcPct val="115000"/>
              </a:lnSpc>
              <a:spcAft>
                <a:spcPts val="1000"/>
              </a:spcAft>
            </a:pPr>
            <a:r>
              <a:rPr lang="en-US" sz="1050" b="1" dirty="0" smtClean="0">
                <a:latin typeface="Times New Roman"/>
                <a:ea typeface="Times New Roman"/>
                <a:cs typeface="Times New Roman"/>
              </a:rPr>
              <a:t>- Transfer File to Cloud:</a:t>
            </a:r>
            <a:endParaRPr lang="en-US" sz="1050" dirty="0" smtClean="0">
              <a:latin typeface="Calibri"/>
              <a:ea typeface="Times New Roman"/>
              <a:cs typeface="Times New Roman"/>
            </a:endParaRPr>
          </a:p>
          <a:p>
            <a:pPr algn="just">
              <a:lnSpc>
                <a:spcPct val="115000"/>
              </a:lnSpc>
              <a:spcAft>
                <a:spcPts val="1000"/>
              </a:spcAft>
            </a:pPr>
            <a:r>
              <a:rPr lang="en-US" sz="1050" dirty="0" smtClean="0">
                <a:latin typeface="Times New Roman"/>
                <a:ea typeface="Times New Roman"/>
                <a:cs typeface="Times New Roman"/>
              </a:rPr>
              <a:t>Users can upload encrypted files to the cloud, which will be subsequently sent to the Autonomous Vehicle (AV). The uploaded files are encrypted using the CPABE algorithm.</a:t>
            </a:r>
            <a:endParaRPr lang="en-US" sz="1050" dirty="0" smtClean="0">
              <a:latin typeface="Calibri"/>
              <a:ea typeface="Times New Roman"/>
              <a:cs typeface="Times New Roman"/>
            </a:endParaRPr>
          </a:p>
          <a:p>
            <a:pPr algn="just">
              <a:lnSpc>
                <a:spcPct val="115000"/>
              </a:lnSpc>
              <a:spcAft>
                <a:spcPts val="1000"/>
              </a:spcAft>
            </a:pPr>
            <a:r>
              <a:rPr lang="en-US" sz="1050" b="1" dirty="0" smtClean="0">
                <a:latin typeface="Times New Roman"/>
                <a:ea typeface="Times New Roman"/>
                <a:cs typeface="Times New Roman"/>
              </a:rPr>
              <a:t>- View File Status:</a:t>
            </a:r>
            <a:endParaRPr lang="en-US" sz="1050" dirty="0" smtClean="0">
              <a:latin typeface="Calibri"/>
              <a:ea typeface="Times New Roman"/>
              <a:cs typeface="Times New Roman"/>
            </a:endParaRPr>
          </a:p>
          <a:p>
            <a:pPr algn="just">
              <a:lnSpc>
                <a:spcPct val="115000"/>
              </a:lnSpc>
              <a:spcAft>
                <a:spcPts val="1000"/>
              </a:spcAft>
            </a:pPr>
            <a:r>
              <a:rPr lang="en-US" sz="1050" dirty="0" smtClean="0">
                <a:latin typeface="Times New Roman"/>
                <a:ea typeface="Times New Roman"/>
                <a:cs typeface="Times New Roman"/>
              </a:rPr>
              <a:t>Users can view the upload status of their files. The system provides information about whether the file has been successfully received and updates from the AV.</a:t>
            </a:r>
            <a:endParaRPr lang="en-US" sz="1050" dirty="0" smtClean="0">
              <a:latin typeface="Calibri"/>
              <a:ea typeface="Times New Roman"/>
              <a:cs typeface="Times New Roman"/>
            </a:endParaRPr>
          </a:p>
          <a:p>
            <a:pPr algn="just">
              <a:lnSpc>
                <a:spcPct val="115000"/>
              </a:lnSpc>
              <a:spcAft>
                <a:spcPts val="1000"/>
              </a:spcAft>
            </a:pPr>
            <a:r>
              <a:rPr lang="en-US" sz="1050" b="1" dirty="0" smtClean="0">
                <a:latin typeface="Times New Roman"/>
                <a:ea typeface="Times New Roman"/>
                <a:cs typeface="Times New Roman"/>
              </a:rPr>
              <a:t> - Download File from AV:</a:t>
            </a:r>
            <a:endParaRPr lang="en-US" sz="1050" dirty="0" smtClean="0">
              <a:latin typeface="Calibri"/>
              <a:ea typeface="Times New Roman"/>
              <a:cs typeface="Times New Roman"/>
            </a:endParaRPr>
          </a:p>
          <a:p>
            <a:pPr algn="just">
              <a:lnSpc>
                <a:spcPct val="115000"/>
              </a:lnSpc>
              <a:spcAft>
                <a:spcPts val="1000"/>
              </a:spcAft>
            </a:pPr>
            <a:r>
              <a:rPr lang="en-US" sz="1050" dirty="0" smtClean="0">
                <a:latin typeface="Times New Roman"/>
                <a:ea typeface="Times New Roman"/>
                <a:cs typeface="Times New Roman"/>
              </a:rPr>
              <a:t>Users can download files from the AV that have been previously uploaded. The downloaded files are decrypted using the private key, allowing the user to access the original content.</a:t>
            </a:r>
            <a:endParaRPr lang="en-US" sz="1050" dirty="0">
              <a:latin typeface="Calibri"/>
              <a:ea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01080" cy="6357982"/>
          </a:xfrm>
        </p:spPr>
        <p:txBody>
          <a:bodyPr>
            <a:noAutofit/>
          </a:bodyPr>
          <a:lstStyle/>
          <a:p>
            <a:pPr algn="just">
              <a:lnSpc>
                <a:spcPct val="170000"/>
              </a:lnSpc>
            </a:pPr>
            <a:r>
              <a:rPr lang="en-US" sz="1400" b="1" dirty="0" smtClean="0"/>
              <a:t>2. Cloud Server:</a:t>
            </a:r>
            <a:endParaRPr lang="en-US" sz="1400" dirty="0" smtClean="0"/>
          </a:p>
          <a:p>
            <a:pPr algn="just">
              <a:lnSpc>
                <a:spcPct val="170000"/>
              </a:lnSpc>
            </a:pPr>
            <a:r>
              <a:rPr lang="en-US" sz="1400" b="1" dirty="0" smtClean="0"/>
              <a:t> </a:t>
            </a:r>
            <a:r>
              <a:rPr lang="en-US" sz="1400" dirty="0" smtClean="0"/>
              <a:t>- This module acts as an intermediary between users and the AV.</a:t>
            </a:r>
          </a:p>
          <a:p>
            <a:pPr algn="just">
              <a:lnSpc>
                <a:spcPct val="170000"/>
              </a:lnSpc>
            </a:pPr>
            <a:r>
              <a:rPr lang="en-US" sz="1400" dirty="0" smtClean="0"/>
              <a:t> - It receives encrypted files uploaded by users and then forwards these files to the AV for further processing.</a:t>
            </a:r>
          </a:p>
          <a:p>
            <a:pPr algn="just">
              <a:lnSpc>
                <a:spcPct val="170000"/>
              </a:lnSpc>
            </a:pPr>
            <a:r>
              <a:rPr lang="en-US" sz="1400" dirty="0" smtClean="0"/>
              <a:t> - It is responsible for managing the file transfer process between users and the AV.</a:t>
            </a:r>
          </a:p>
          <a:p>
            <a:pPr algn="just">
              <a:lnSpc>
                <a:spcPct val="170000"/>
              </a:lnSpc>
            </a:pPr>
            <a:r>
              <a:rPr lang="en-US" sz="1400" b="1" dirty="0" smtClean="0"/>
              <a:t>3. AV (Autonomous Vehicle):</a:t>
            </a:r>
            <a:endParaRPr lang="en-US" sz="1400" dirty="0" smtClean="0"/>
          </a:p>
          <a:p>
            <a:pPr algn="just">
              <a:lnSpc>
                <a:spcPct val="170000"/>
              </a:lnSpc>
            </a:pPr>
            <a:r>
              <a:rPr lang="en-US" sz="1400" b="1" dirty="0" smtClean="0"/>
              <a:t>The key features of this module include:</a:t>
            </a:r>
            <a:endParaRPr lang="en-US" sz="1400" dirty="0" smtClean="0"/>
          </a:p>
          <a:p>
            <a:pPr algn="just">
              <a:lnSpc>
                <a:spcPct val="170000"/>
              </a:lnSpc>
            </a:pPr>
            <a:r>
              <a:rPr lang="en-US" sz="1400" b="1" dirty="0" smtClean="0"/>
              <a:t>- AV Login:</a:t>
            </a:r>
            <a:endParaRPr lang="en-US" sz="1400" dirty="0" smtClean="0"/>
          </a:p>
          <a:p>
            <a:pPr algn="just">
              <a:lnSpc>
                <a:spcPct val="170000"/>
              </a:lnSpc>
            </a:pPr>
            <a:r>
              <a:rPr lang="en-US" sz="1400" dirty="0" smtClean="0"/>
              <a:t>  The AV can log in to the system using the provided username and password ('admin'/'admin'). </a:t>
            </a:r>
          </a:p>
          <a:p>
            <a:pPr algn="just">
              <a:lnSpc>
                <a:spcPct val="170000"/>
              </a:lnSpc>
            </a:pPr>
            <a:r>
              <a:rPr lang="en-US" sz="1400" b="1" dirty="0" smtClean="0"/>
              <a:t>- View Received Files:</a:t>
            </a:r>
            <a:endParaRPr lang="en-US" sz="1400" dirty="0" smtClean="0"/>
          </a:p>
          <a:p>
            <a:pPr algn="just">
              <a:lnSpc>
                <a:spcPct val="170000"/>
              </a:lnSpc>
            </a:pPr>
            <a:r>
              <a:rPr lang="en-US" sz="1400" dirty="0" smtClean="0"/>
              <a:t>The AV can view a list of files that have been uploaded by various users. These files are stored in an encrypted format on the AV.</a:t>
            </a:r>
          </a:p>
          <a:p>
            <a:pPr algn="just">
              <a:lnSpc>
                <a:spcPct val="170000"/>
              </a:lnSpc>
            </a:pPr>
            <a:r>
              <a:rPr lang="en-US" sz="1400" b="1" dirty="0" smtClean="0"/>
              <a:t>- Decryption and Update:</a:t>
            </a:r>
            <a:endParaRPr lang="en-US" sz="1400" dirty="0" smtClean="0"/>
          </a:p>
          <a:p>
            <a:pPr lvl="0" algn="just">
              <a:lnSpc>
                <a:spcPct val="170000"/>
              </a:lnSpc>
            </a:pPr>
            <a:r>
              <a:rPr lang="en-US" sz="1400" dirty="0" smtClean="0"/>
              <a:t> The AV is responsible for decrypting the received files using the appropriate private key. It then updates the status of the file receipt, indicating whether the file has been successfully received.</a:t>
            </a:r>
          </a:p>
          <a:p>
            <a:pPr algn="just">
              <a:lnSpc>
                <a:spcPct val="170000"/>
              </a:lnSpc>
            </a:pP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lvl="0" algn="just"/>
            <a:r>
              <a:rPr lang="en-US" sz="1600" dirty="0" smtClean="0"/>
              <a:t>Intelligence for Cloud-based Internet of Transportation Systems" successfully bridges the realms of cutting-edge technology and security in modern transportation networks. </a:t>
            </a:r>
          </a:p>
          <a:p>
            <a:pPr lvl="0" algn="just"/>
            <a:r>
              <a:rPr lang="en-US" sz="1600" dirty="0" smtClean="0"/>
              <a:t>By synergizing AI-driven anomaly detection and robust cyber security measures, the project contributes to safeguarding cloud-based transportation systems against emerging threats. </a:t>
            </a:r>
          </a:p>
          <a:p>
            <a:pPr lvl="0" algn="just"/>
            <a:r>
              <a:rPr lang="en-US" sz="1600" dirty="0" smtClean="0"/>
              <a:t>Continuous monitoring, adaptation, and collaboration are vital components in this evolving landscape.</a:t>
            </a:r>
          </a:p>
          <a:p>
            <a:pPr lvl="0" algn="just"/>
            <a:r>
              <a:rPr lang="en-US" sz="1600" dirty="0" smtClean="0"/>
              <a:t>Safeguarding transportation networks through comprehensive </a:t>
            </a:r>
            <a:r>
              <a:rPr lang="en-US" sz="1600" dirty="0" err="1" smtClean="0"/>
              <a:t>cybersecurity</a:t>
            </a:r>
            <a:r>
              <a:rPr lang="en-US" sz="1600" dirty="0" smtClean="0"/>
              <a:t> measures not only protects sensitive information but also contributes to the sustained efficiency and safety of advancement and interconnected systems.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1400" dirty="0"/>
              <a:t>[1] R. </a:t>
            </a:r>
            <a:r>
              <a:rPr lang="en-US" sz="1400" dirty="0" err="1"/>
              <a:t>Quinonez</a:t>
            </a:r>
            <a:r>
              <a:rPr lang="en-US" sz="1400" dirty="0"/>
              <a:t>, J. </a:t>
            </a:r>
            <a:r>
              <a:rPr lang="en-US" sz="1400" dirty="0" err="1"/>
              <a:t>Giraldo</a:t>
            </a:r>
            <a:r>
              <a:rPr lang="en-US" sz="1400" dirty="0"/>
              <a:t>, L. Salazar, E. Bauman, A. Cardenas, Z. Lin, Securing Autonomous Vehicles with a Robust Physics-Based Anomaly Detector. 29th USENIX Security Symposium (USENIX Security 20). Boston, MA, August 2020. </a:t>
            </a:r>
          </a:p>
          <a:p>
            <a:pPr algn="just">
              <a:lnSpc>
                <a:spcPct val="150000"/>
              </a:lnSpc>
            </a:pPr>
            <a:r>
              <a:rPr lang="en-US" sz="1400" dirty="0"/>
              <a:t>[2] M. </a:t>
            </a:r>
            <a:r>
              <a:rPr lang="en-US" sz="1400" dirty="0" err="1"/>
              <a:t>Masood</a:t>
            </a:r>
            <a:r>
              <a:rPr lang="en-US" sz="1400" dirty="0"/>
              <a:t>, L. Khan, and B. </a:t>
            </a:r>
            <a:r>
              <a:rPr lang="en-US" sz="1400" dirty="0" err="1"/>
              <a:t>Thuraisingham</a:t>
            </a:r>
            <a:r>
              <a:rPr lang="en-US" sz="1400" dirty="0"/>
              <a:t>, Data Mining Applications in Malware Detection, CRC Press 2011. </a:t>
            </a:r>
          </a:p>
          <a:p>
            <a:pPr algn="just">
              <a:lnSpc>
                <a:spcPct val="150000"/>
              </a:lnSpc>
            </a:pPr>
            <a:r>
              <a:rPr lang="en-US" sz="1400" dirty="0"/>
              <a:t>[3] Y. Zhou, M. </a:t>
            </a:r>
            <a:r>
              <a:rPr lang="en-US" sz="1400" dirty="0" err="1"/>
              <a:t>Kantarcioglu</a:t>
            </a:r>
            <a:r>
              <a:rPr lang="en-US" sz="1400" dirty="0"/>
              <a:t>, B. M. </a:t>
            </a:r>
            <a:r>
              <a:rPr lang="en-US" sz="1400" dirty="0" err="1"/>
              <a:t>Thuraisingham</a:t>
            </a:r>
            <a:r>
              <a:rPr lang="en-US" sz="1400" dirty="0"/>
              <a:t>, B. Xi, Adversarial support vector machine learning. ACM KDD 2012: 1059-1067 </a:t>
            </a:r>
          </a:p>
          <a:p>
            <a:pPr algn="just">
              <a:lnSpc>
                <a:spcPct val="150000"/>
              </a:lnSpc>
            </a:pPr>
            <a:r>
              <a:rPr lang="en-US" sz="1400" dirty="0"/>
              <a:t>[4] B. M. </a:t>
            </a:r>
            <a:r>
              <a:rPr lang="en-US" sz="1400" dirty="0" err="1"/>
              <a:t>Thuraisingham</a:t>
            </a:r>
            <a:r>
              <a:rPr lang="en-US" sz="1400" dirty="0"/>
              <a:t>, </a:t>
            </a:r>
            <a:r>
              <a:rPr lang="en-US" sz="1400" dirty="0" err="1"/>
              <a:t>SecAI</a:t>
            </a:r>
            <a:r>
              <a:rPr lang="en-US" sz="1400" dirty="0"/>
              <a:t>: Integrating Cyber Security and Artificial Intelligence with Applications in Internet of Transportation and Infrastructures, Clemson University Center for Connected Multimodal Mobility, Annual Conference, October 2019. </a:t>
            </a:r>
          </a:p>
          <a:p>
            <a:pPr algn="just">
              <a:lnSpc>
                <a:spcPct val="150000"/>
              </a:lnSpc>
            </a:pPr>
            <a:r>
              <a:rPr lang="en-US" sz="1400" dirty="0"/>
              <a:t>[5] B. M. </a:t>
            </a:r>
            <a:r>
              <a:rPr lang="en-US" sz="1400" dirty="0" err="1"/>
              <a:t>Thuraisingham</a:t>
            </a:r>
            <a:r>
              <a:rPr lang="en-US" sz="1400" dirty="0"/>
              <a:t>, P </a:t>
            </a:r>
            <a:r>
              <a:rPr lang="en-US" sz="1400" dirty="0" err="1"/>
              <a:t>Pallabi</a:t>
            </a:r>
            <a:r>
              <a:rPr lang="en-US" sz="1400" dirty="0"/>
              <a:t>, M. </a:t>
            </a:r>
            <a:r>
              <a:rPr lang="en-US" sz="1400" dirty="0" err="1"/>
              <a:t>Masud</a:t>
            </a:r>
            <a:r>
              <a:rPr lang="en-US" sz="1400" dirty="0"/>
              <a:t>, L. Khan, Big Data Analytics with Applications in Insider Threat Detection, CRC Press, 2017.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37</TotalTime>
  <Words>1844</Words>
  <Application>Microsoft Office PowerPoint</Application>
  <PresentationFormat>On-screen Show (4:3)</PresentationFormat>
  <Paragraphs>115</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Apex</vt:lpstr>
      <vt:lpstr>CYBER SECURITY AND ARTIFICIAL INTELLIGENCE FOR CLOUD- BASED INTERNET OF TRANSPORTATION SYSTEMS</vt:lpstr>
      <vt:lpstr>ABSTRACT</vt:lpstr>
      <vt:lpstr>INTRODUCTION</vt:lpstr>
      <vt:lpstr>PROBLEM STATEMENT</vt:lpstr>
      <vt:lpstr>OBJECTIVE</vt:lpstr>
      <vt:lpstr>LITERATURE SURVEY</vt:lpstr>
      <vt:lpstr>LITERATURE SURVEY</vt:lpstr>
      <vt:lpstr>LITERATURE SURVEY</vt:lpstr>
      <vt:lpstr>LITERATURE SURVEY</vt:lpstr>
      <vt:lpstr>LITERATURE SURVEY</vt:lpstr>
      <vt:lpstr>EXISTING SYSTEM</vt:lpstr>
      <vt:lpstr>DRAWBACKS OF EXISTING SYSTEM</vt:lpstr>
      <vt:lpstr>PROPOSED SYSTEM</vt:lpstr>
      <vt:lpstr>BENEFITS OF PROPOSED SYSTEM</vt:lpstr>
      <vt:lpstr>REQUIREMENTS</vt:lpstr>
      <vt:lpstr>SYSTEM  ARCHITECTURE</vt:lpstr>
      <vt:lpstr>UML DIAGRAMS</vt:lpstr>
      <vt:lpstr>DATA FLOW DIAGRAM</vt:lpstr>
      <vt:lpstr>USE CASE DIAGRAM</vt:lpstr>
      <vt:lpstr>CLASS DIAGRAM</vt:lpstr>
      <vt:lpstr>ACTIVITY DIAGRAM</vt:lpstr>
      <vt:lpstr>SEQUENCE DIAGRAM</vt:lpstr>
      <vt:lpstr>COLLABORATION DIAGRAM</vt:lpstr>
      <vt:lpstr>COMPONENT DIAGRAM</vt:lpstr>
      <vt:lpstr>DEPLOYMENT DIAGRAM</vt:lpstr>
      <vt:lpstr>IMPLEMENTATION</vt:lpstr>
      <vt:lpstr>Slide 27</vt:lpstr>
      <vt:lpstr>CONCLUSION</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AND ARTIFICIAL INTELLIGENCE FOR CLOUD- BASED INTERNET OF TRANSPORTATION SYSTEMS</dc:title>
  <dc:creator>TruProjects</dc:creator>
  <cp:lastModifiedBy>TruProjects</cp:lastModifiedBy>
  <cp:revision>9</cp:revision>
  <dcterms:created xsi:type="dcterms:W3CDTF">2023-12-11T05:12:28Z</dcterms:created>
  <dcterms:modified xsi:type="dcterms:W3CDTF">2024-01-26T13:27:04Z</dcterms:modified>
</cp:coreProperties>
</file>