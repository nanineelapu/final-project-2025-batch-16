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302" r:id="rId5"/>
    <p:sldId id="303" r:id="rId6"/>
    <p:sldId id="266" r:id="rId7"/>
    <p:sldId id="267" r:id="rId8"/>
    <p:sldId id="268" r:id="rId9"/>
    <p:sldId id="269" r:id="rId10"/>
    <p:sldId id="270" r:id="rId11"/>
    <p:sldId id="271" r:id="rId12"/>
    <p:sldId id="28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58" d="100"/>
          <a:sy n="58" d="100"/>
        </p:scale>
        <p:origin x="-78" y="-7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4F828989-6676-4456-8D56-2D31E0F36160}" type="datetimeFigureOut">
              <a:rPr lang="en-US" smtClean="0"/>
              <a:pPr/>
              <a:t>1/26/2024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A6D0659D-0730-4B14-B082-65D6430DF47F}"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A6D0659D-0730-4B14-B082-65D6430DF47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F828989-6676-4456-8D56-2D31E0F36160}" type="datetimeFigureOut">
              <a:rPr lang="en-US" smtClean="0"/>
              <a:pPr/>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F828989-6676-4456-8D56-2D31E0F36160}" type="datetimeFigureOut">
              <a:rPr lang="en-US" smtClean="0"/>
              <a:pPr/>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828989-6676-4456-8D56-2D31E0F36160}" type="datetimeFigureOut">
              <a:rPr lang="en-US" smtClean="0"/>
              <a:pPr/>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F828989-6676-4456-8D56-2D31E0F36160}"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828989-6676-4456-8D56-2D31E0F36160}"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0659D-0730-4B14-B082-65D6430DF47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4F828989-6676-4456-8D56-2D31E0F36160}" type="datetimeFigureOut">
              <a:rPr lang="en-US" smtClean="0"/>
              <a:pPr/>
              <a:t>1/26/2024</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A6D0659D-0730-4B14-B082-65D6430DF47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2714620"/>
            <a:ext cx="7772400" cy="1752600"/>
          </a:xfrm>
        </p:spPr>
        <p:txBody>
          <a:bodyPr>
            <a:normAutofit fontScale="90000"/>
          </a:bodyPr>
          <a:lstStyle/>
          <a:p>
            <a:r>
              <a:rPr lang="en-US" b="1" dirty="0"/>
              <a:t>CYBER SECURITY AND ARTIFICIAL INTELLIGENCE FOR CLOUD- BASED INTERNET OF TRANSPORTATION SYSTEMS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Autofit/>
          </a:bodyPr>
          <a:lstStyle/>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"Cyber Security and Artificial Intelligence for Cloud-Based Internet of Transportation Systems" initiative combines cyber security, artificial intelligence, and cloud technology to enhance data integrity and user safety in interconnected transportation networks. </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In the previous development, IOT is been used to store the data which will be transferred to autonomous vehicle. But this system have some drawbacks regarding security during data transfer. </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project uses CPABE encryption to secure files during upload, storage, and download.</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Through distinct user and cloud server modules, it enables seamless interaction, encryption, and decryption while maintaining file integrity.</a:t>
            </a:r>
          </a:p>
          <a:p>
            <a:pPr marL="601755" lvl="0" indent="-601755" algn="just">
              <a:lnSpc>
                <a:spcPct val="150000"/>
              </a:lnSpc>
              <a:buClr>
                <a:srgbClr val="555A3C"/>
              </a:buClr>
              <a:buSzPct val="70000"/>
              <a:buFont typeface="Wingdings" pitchFamily="2" charset="2"/>
              <a:buChar char="Ø"/>
            </a:pPr>
            <a:r>
              <a:rPr lang="en-US" sz="1600" dirty="0" smtClean="0">
                <a:latin typeface="Times New Roman" pitchFamily="18" charset="0"/>
                <a:cs typeface="Times New Roman" pitchFamily="18" charset="0"/>
              </a:rPr>
              <a:t>The project integrates AI-driven anomaly detection and robust cyber security measures, safeguarding cloud-based transportation systems against emerging threats. </a:t>
            </a:r>
          </a:p>
          <a:p>
            <a:pPr marL="601755" lvl="0" indent="-601755" algn="just">
              <a:lnSpc>
                <a:spcPct val="150000"/>
              </a:lnSpc>
              <a:buClr>
                <a:srgbClr val="555A3C"/>
              </a:buClr>
              <a:buSzPct val="70000"/>
              <a:buFont typeface="Wingdings" pitchFamily="2" charset="2"/>
              <a:buChar char="Ø"/>
            </a:pPr>
            <a:endParaRPr lang="en-US" sz="1600" dirty="0" smtClean="0">
              <a:latin typeface="Times New Roman" pitchFamily="18" charset="0"/>
              <a:cs typeface="Times New Roman" pitchFamily="18" charset="0"/>
            </a:endParaRPr>
          </a:p>
          <a:p>
            <a:pPr marL="601755" lvl="0" indent="-601755" algn="just">
              <a:lnSpc>
                <a:spcPct val="150000"/>
              </a:lnSpc>
              <a:buClr>
                <a:srgbClr val="555A3C"/>
              </a:buClr>
              <a:buSzPct val="70000"/>
              <a:buFont typeface="Wingdings" pitchFamily="2" charset="2"/>
              <a:buChar char="Ø"/>
            </a:pPr>
            <a:endParaRPr lang="en-US" sz="1600" dirty="0" smtClean="0">
              <a:latin typeface="Times New Roman" pitchFamily="18" charset="0"/>
              <a:cs typeface="Times New Roman" pitchFamily="18" charset="0"/>
            </a:endParaRPr>
          </a:p>
          <a:p>
            <a:pPr marL="601755" lvl="0" indent="-601755" algn="just">
              <a:lnSpc>
                <a:spcPct val="150000"/>
              </a:lnSpc>
              <a:buClr>
                <a:srgbClr val="555A3C"/>
              </a:buClr>
              <a:buSzPct val="70000"/>
              <a:buNone/>
            </a:pPr>
            <a:endParaRPr lang="en-US" sz="3200" dirty="0">
              <a:latin typeface="Franklin Gothic Boo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Autofit/>
          </a:bodyPr>
          <a:lstStyle/>
          <a:p>
            <a:pPr algn="just">
              <a:lnSpc>
                <a:spcPct val="150000"/>
              </a:lnSpc>
              <a:spcAft>
                <a:spcPts val="1000"/>
              </a:spcAft>
            </a:pPr>
            <a:r>
              <a:rPr lang="en-US" sz="1600" dirty="0" smtClean="0">
                <a:latin typeface="Times New Roman"/>
                <a:ea typeface="Calibri"/>
                <a:cs typeface="Times New Roman"/>
              </a:rPr>
              <a:t>In the rapidly advancing landscape of technology, the integration of artificial intelligence (AI) and cyber security has become imperative, especially within the cloud-based Internet of Transportation Systems (</a:t>
            </a:r>
            <a:r>
              <a:rPr lang="en-US" sz="1600" dirty="0" err="1" smtClean="0">
                <a:latin typeface="Times New Roman"/>
                <a:ea typeface="Calibri"/>
                <a:cs typeface="Times New Roman"/>
              </a:rPr>
              <a:t>IoTs</a:t>
            </a:r>
            <a:r>
              <a:rPr lang="en-US" sz="1600" dirty="0" smtClean="0">
                <a:latin typeface="Times New Roman"/>
                <a:ea typeface="Calibri"/>
                <a:cs typeface="Times New Roman"/>
              </a:rPr>
              <a:t>). </a:t>
            </a:r>
            <a:endParaRPr lang="en-US" sz="1200" dirty="0" smtClean="0">
              <a:latin typeface="Calibri"/>
              <a:ea typeface="Times New Roman"/>
              <a:cs typeface="Times New Roman"/>
            </a:endParaRPr>
          </a:p>
          <a:p>
            <a:pPr algn="just">
              <a:lnSpc>
                <a:spcPct val="150000"/>
              </a:lnSpc>
              <a:spcAft>
                <a:spcPts val="1000"/>
              </a:spcAft>
            </a:pPr>
            <a:r>
              <a:rPr lang="en-US" sz="1600" dirty="0" smtClean="0">
                <a:latin typeface="Times New Roman"/>
                <a:ea typeface="Calibri"/>
                <a:cs typeface="Times New Roman"/>
              </a:rPr>
              <a:t>	As transportation systems become more interconnected and reliant on cloud infrastructure, the need to fortify these networks against cyber threats become paramount.</a:t>
            </a:r>
            <a:endParaRPr lang="en-US" sz="1200" dirty="0" smtClean="0">
              <a:latin typeface="Calibri"/>
              <a:ea typeface="Times New Roman"/>
              <a:cs typeface="Times New Roman"/>
            </a:endParaRPr>
          </a:p>
          <a:p>
            <a:pPr indent="457200" algn="just">
              <a:lnSpc>
                <a:spcPct val="150000"/>
              </a:lnSpc>
              <a:spcAft>
                <a:spcPts val="1000"/>
              </a:spcAft>
            </a:pPr>
            <a:r>
              <a:rPr lang="en-US" sz="1600" dirty="0" smtClean="0">
                <a:latin typeface="Times New Roman"/>
                <a:ea typeface="Calibri"/>
                <a:cs typeface="Times New Roman"/>
              </a:rPr>
              <a:t>The introduction explores the intersection of AI and </a:t>
            </a:r>
            <a:r>
              <a:rPr lang="en-US" sz="1600" dirty="0" err="1" smtClean="0">
                <a:latin typeface="Times New Roman"/>
                <a:ea typeface="Calibri"/>
                <a:cs typeface="Times New Roman"/>
              </a:rPr>
              <a:t>cybersecurity</a:t>
            </a:r>
            <a:r>
              <a:rPr lang="en-US" sz="1600" dirty="0" smtClean="0">
                <a:latin typeface="Times New Roman"/>
                <a:ea typeface="Calibri"/>
                <a:cs typeface="Times New Roman"/>
              </a:rPr>
              <a:t>  in the context of cloud-based </a:t>
            </a:r>
            <a:r>
              <a:rPr lang="en-US" sz="1600" dirty="0" err="1" smtClean="0">
                <a:latin typeface="Times New Roman"/>
                <a:ea typeface="Calibri"/>
                <a:cs typeface="Times New Roman"/>
              </a:rPr>
              <a:t>IoTs</a:t>
            </a:r>
            <a:r>
              <a:rPr lang="en-US" sz="1600" dirty="0" smtClean="0">
                <a:latin typeface="Times New Roman"/>
                <a:ea typeface="Calibri"/>
                <a:cs typeface="Times New Roman"/>
              </a:rPr>
              <a:t>, highlighting the significance of safeguarding transportation systems in an era of digital transformation.</a:t>
            </a:r>
            <a:endParaRPr lang="en-US" sz="1200" dirty="0">
              <a:latin typeface="Calibri"/>
              <a:ea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normAutofit fontScale="62500" lnSpcReduction="20000"/>
          </a:bodyPr>
          <a:lstStyle/>
          <a:p>
            <a:pPr algn="just">
              <a:lnSpc>
                <a:spcPct val="170000"/>
              </a:lnSpc>
            </a:pPr>
            <a:r>
              <a:rPr lang="en-US" dirty="0" smtClean="0"/>
              <a:t>Intelligent Internet of Transportation Systems can be made by putting together artificial intelligence, cloud computing, cyber security, and the storage of data.  </a:t>
            </a:r>
          </a:p>
          <a:p>
            <a:pPr algn="just">
              <a:lnSpc>
                <a:spcPct val="170000"/>
              </a:lnSpc>
            </a:pPr>
            <a:r>
              <a:rPr lang="en-US" dirty="0" smtClean="0"/>
              <a:t>Social media platforms can be affected by both AVs and </a:t>
            </a:r>
            <a:r>
              <a:rPr lang="en-US" dirty="0" err="1" smtClean="0"/>
              <a:t>cyberattacks</a:t>
            </a:r>
            <a:r>
              <a:rPr lang="en-US" dirty="0" smtClean="0"/>
              <a:t>. This could put the privacy of social media users and the information they share at risk.</a:t>
            </a:r>
          </a:p>
          <a:p>
            <a:pPr algn="just">
              <a:lnSpc>
                <a:spcPct val="170000"/>
              </a:lnSpc>
            </a:pPr>
            <a:r>
              <a:rPr lang="en-US" dirty="0" smtClean="0"/>
              <a:t>Cloud computing also poses some challenges for </a:t>
            </a:r>
            <a:r>
              <a:rPr lang="en-US" dirty="0" err="1" smtClean="0"/>
              <a:t>IoT</a:t>
            </a:r>
            <a:r>
              <a:rPr lang="en-US" dirty="0" smtClean="0"/>
              <a:t> applications, such as latency, bandwidth, reliability, and interoperability. Latency means the delay between sending and receiving data, which can affect the performance and responsiveness of </a:t>
            </a:r>
            <a:r>
              <a:rPr lang="en-US" dirty="0" err="1" smtClean="0"/>
              <a:t>IoT</a:t>
            </a:r>
            <a:r>
              <a:rPr lang="en-US" dirty="0" smtClean="0"/>
              <a:t> devices and applications.</a:t>
            </a:r>
          </a:p>
          <a:p>
            <a:pPr algn="just">
              <a:lnSpc>
                <a:spcPct val="170000"/>
              </a:lnSpc>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p:txBody>
          <a:bodyPr>
            <a:normAutofit fontScale="55000" lnSpcReduction="20000"/>
          </a:bodyPr>
          <a:lstStyle/>
          <a:p>
            <a:pPr algn="just">
              <a:lnSpc>
                <a:spcPct val="170000"/>
              </a:lnSpc>
            </a:pPr>
            <a:r>
              <a:rPr lang="en-US" dirty="0" smtClean="0"/>
              <a:t>The primary objective is to enhance the </a:t>
            </a:r>
            <a:r>
              <a:rPr lang="en-US" dirty="0" err="1" smtClean="0"/>
              <a:t>cybersecurity</a:t>
            </a:r>
            <a:r>
              <a:rPr lang="en-US" dirty="0" smtClean="0"/>
              <a:t> framework of the cloud-based Internet of Transportation Systems (</a:t>
            </a:r>
            <a:r>
              <a:rPr lang="en-US" dirty="0" err="1" smtClean="0"/>
              <a:t>IoTs</a:t>
            </a:r>
            <a:r>
              <a:rPr lang="en-US" dirty="0" smtClean="0"/>
              <a:t>) integrated with artificial intelligence. </a:t>
            </a:r>
          </a:p>
          <a:p>
            <a:pPr algn="just">
              <a:lnSpc>
                <a:spcPct val="170000"/>
              </a:lnSpc>
            </a:pPr>
            <a:r>
              <a:rPr lang="en-US" dirty="0" smtClean="0"/>
              <a:t>It also uses CP-ABE encryption method so that only authorized users can view the message. This includes:</a:t>
            </a:r>
          </a:p>
          <a:p>
            <a:pPr lvl="0" algn="just">
              <a:lnSpc>
                <a:spcPct val="170000"/>
              </a:lnSpc>
            </a:pPr>
            <a:r>
              <a:rPr lang="en-US" b="1" dirty="0" smtClean="0"/>
              <a:t>Strengthening data protection</a:t>
            </a:r>
            <a:r>
              <a:rPr lang="en-US" dirty="0" smtClean="0"/>
              <a:t>: means implementing robust encryption and access controls to safeguard sensitive information.</a:t>
            </a:r>
          </a:p>
          <a:p>
            <a:pPr lvl="0" algn="just">
              <a:lnSpc>
                <a:spcPct val="170000"/>
              </a:lnSpc>
            </a:pPr>
            <a:r>
              <a:rPr lang="en-US" b="1" dirty="0" smtClean="0"/>
              <a:t>Ensuring system reliability</a:t>
            </a:r>
            <a:r>
              <a:rPr lang="en-US" dirty="0" smtClean="0"/>
              <a:t>: means developing measures to prevent disruptions and downtime caused by cyber threats.</a:t>
            </a:r>
          </a:p>
          <a:p>
            <a:pPr lvl="0" algn="just">
              <a:lnSpc>
                <a:spcPct val="170000"/>
              </a:lnSpc>
            </a:pPr>
            <a:r>
              <a:rPr lang="en-US" b="1" dirty="0" smtClean="0"/>
              <a:t>Enhancing AI resilience: </a:t>
            </a:r>
            <a:r>
              <a:rPr lang="en-US" dirty="0" smtClean="0"/>
              <a:t>Implementing</a:t>
            </a:r>
            <a:r>
              <a:rPr lang="en-US" b="1" dirty="0" smtClean="0"/>
              <a:t> </a:t>
            </a:r>
            <a:r>
              <a:rPr lang="en-US" dirty="0" smtClean="0"/>
              <a:t>defenses against</a:t>
            </a:r>
            <a:r>
              <a:rPr lang="en-US" b="1" dirty="0" smtClean="0"/>
              <a:t> </a:t>
            </a:r>
            <a:r>
              <a:rPr lang="en-US" dirty="0" smtClean="0"/>
              <a:t>adversarial attacks on AI algorithms used in transportation systems.</a:t>
            </a:r>
          </a:p>
          <a:p>
            <a:pPr algn="just">
              <a:lnSpc>
                <a:spcPct val="170000"/>
              </a:lnSpc>
            </a:pPr>
            <a:r>
              <a:rPr lang="en-US" b="1" dirty="0" smtClean="0"/>
              <a:t>Continuous monitoring and adaptation: </a:t>
            </a:r>
            <a:r>
              <a:rPr lang="en-US" dirty="0" smtClean="0"/>
              <a:t>Establishing mechanisms for real-time threat detection and response to evolving cyber risks</a:t>
            </a:r>
            <a:r>
              <a:rPr lang="en-US" dirty="0" smtClean="0"/>
              <a:t>.</a:t>
            </a:r>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idx="1"/>
          </p:nvPr>
        </p:nvSpPr>
        <p:spPr/>
        <p:txBody>
          <a:bodyPr>
            <a:normAutofit/>
          </a:bodyPr>
          <a:lstStyle/>
          <a:p>
            <a:pPr algn="just">
              <a:lnSpc>
                <a:spcPct val="150000"/>
              </a:lnSpc>
              <a:spcAft>
                <a:spcPts val="0"/>
              </a:spcAft>
            </a:pPr>
            <a:r>
              <a:rPr lang="en-US" sz="1800" dirty="0" smtClean="0">
                <a:latin typeface="Times New Roman"/>
                <a:ea typeface="Times New Roman"/>
                <a:cs typeface="Times New Roman"/>
              </a:rPr>
              <a:t>The existing system faces significant </a:t>
            </a:r>
            <a:r>
              <a:rPr lang="en-US" sz="1800" dirty="0" err="1" smtClean="0">
                <a:latin typeface="Times New Roman"/>
                <a:ea typeface="Times New Roman"/>
                <a:cs typeface="Times New Roman"/>
              </a:rPr>
              <a:t>cybersecurity</a:t>
            </a:r>
            <a:r>
              <a:rPr lang="en-US" sz="1800" dirty="0" smtClean="0">
                <a:latin typeface="Times New Roman"/>
                <a:ea typeface="Times New Roman"/>
                <a:cs typeface="Times New Roman"/>
              </a:rPr>
              <a:t> vulnerabilities within its cloud-based internet of Transportation Systems (</a:t>
            </a:r>
            <a:r>
              <a:rPr lang="en-US" sz="1800" dirty="0" err="1" smtClean="0">
                <a:latin typeface="Times New Roman"/>
                <a:ea typeface="Times New Roman"/>
                <a:cs typeface="Times New Roman"/>
              </a:rPr>
              <a:t>IoTs</a:t>
            </a:r>
            <a:r>
              <a:rPr lang="en-US" sz="1800" dirty="0" smtClean="0">
                <a:latin typeface="Times New Roman"/>
                <a:ea typeface="Times New Roman"/>
                <a:cs typeface="Times New Roman"/>
              </a:rPr>
              <a:t>).</a:t>
            </a:r>
            <a:endParaRPr lang="en-US" sz="1400" dirty="0" smtClean="0">
              <a:latin typeface="Calibri"/>
              <a:ea typeface="Times New Roman"/>
              <a:cs typeface="Times New Roman"/>
            </a:endParaRPr>
          </a:p>
          <a:p>
            <a:pPr algn="just">
              <a:lnSpc>
                <a:spcPct val="150000"/>
              </a:lnSpc>
              <a:spcAft>
                <a:spcPts val="0"/>
              </a:spcAft>
            </a:pPr>
            <a:r>
              <a:rPr lang="en-US" sz="1800" dirty="0" smtClean="0">
                <a:latin typeface="Times New Roman"/>
                <a:ea typeface="Times New Roman"/>
                <a:cs typeface="Times New Roman"/>
              </a:rPr>
              <a:t>Weakness includes potential data breaches, system disruptions, and the susceptibility of AI algorithms to exploitation. These challenges compromise the integrity and safety of transportation networks, necessitating a comprehensive reassessment of the current security measures to fortify against evolving cyber threats in the rapidly advancing technological landscape.</a:t>
            </a:r>
            <a:endParaRPr lang="en-US" sz="1400" dirty="0">
              <a:latin typeface="Calibri"/>
              <a:ea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DRAWBACKS OF EXISTING SYSTEM</a:t>
            </a:r>
            <a:endParaRPr lang="en-US" dirty="0"/>
          </a:p>
        </p:txBody>
      </p:sp>
      <p:sp>
        <p:nvSpPr>
          <p:cNvPr id="3" name="Content Placeholder 2"/>
          <p:cNvSpPr>
            <a:spLocks noGrp="1"/>
          </p:cNvSpPr>
          <p:nvPr>
            <p:ph idx="1"/>
          </p:nvPr>
        </p:nvSpPr>
        <p:spPr/>
        <p:txBody>
          <a:bodyPr>
            <a:normAutofit/>
          </a:bodyPr>
          <a:lstStyle/>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Vulnerable to security breaches.</a:t>
            </a:r>
            <a:endParaRPr lang="en-US" sz="2000" b="1" kern="0" dirty="0" smtClean="0">
              <a:latin typeface="Times New Roman"/>
              <a:ea typeface="Times New Roman"/>
            </a:endParaRPr>
          </a:p>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Risks associated with improper data transfers.</a:t>
            </a:r>
            <a:endParaRPr lang="en-US" sz="2000" b="1" kern="0" dirty="0" smtClean="0">
              <a:latin typeface="Times New Roman"/>
              <a:ea typeface="Times New Roman"/>
            </a:endParaRPr>
          </a:p>
          <a:p>
            <a:pPr marL="342900" marR="17145" lvl="0" indent="-342900" algn="just">
              <a:lnSpc>
                <a:spcPct val="150000"/>
              </a:lnSpc>
              <a:spcBef>
                <a:spcPts val="15"/>
              </a:spcBef>
              <a:spcAft>
                <a:spcPts val="0"/>
              </a:spcAft>
              <a:buFont typeface="+mj-lt"/>
              <a:buAutoNum type="arabicPeriod"/>
              <a:tabLst>
                <a:tab pos="597535" algn="l"/>
              </a:tabLst>
            </a:pPr>
            <a:r>
              <a:rPr lang="en-US" sz="2000" kern="0" dirty="0" smtClean="0">
                <a:latin typeface="Times New Roman"/>
                <a:ea typeface="Times New Roman"/>
                <a:cs typeface="Times New Roman"/>
              </a:rPr>
              <a:t>Increased susceptibility to cyber attacks and unauthorized access.</a:t>
            </a:r>
            <a:endParaRPr lang="en-US" sz="2000" b="1" kern="0" dirty="0">
              <a:latin typeface="Times New Roman"/>
              <a:ea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idx="1"/>
          </p:nvPr>
        </p:nvSpPr>
        <p:spPr/>
        <p:txBody>
          <a:bodyPr>
            <a:normAutofit/>
          </a:bodyPr>
          <a:lstStyle/>
          <a:p>
            <a:pPr marL="139700" marR="17145" algn="just">
              <a:lnSpc>
                <a:spcPct val="150000"/>
              </a:lnSpc>
              <a:spcBef>
                <a:spcPts val="25"/>
              </a:spcBef>
              <a:spcAft>
                <a:spcPts val="0"/>
              </a:spcAft>
              <a:tabLst>
                <a:tab pos="597535" algn="l"/>
              </a:tabLst>
            </a:pPr>
            <a:r>
              <a:rPr lang="en-US" sz="2000" kern="0" dirty="0" smtClean="0">
                <a:latin typeface="Times New Roman"/>
                <a:ea typeface="Times New Roman"/>
              </a:rPr>
              <a:t>In proposed system we are implementing Cyber Security (CS) based data transfer to Autonomous vehicle to overcome the existing problems. Here a cloud is the mediator that which transfers sender files to autonomous vehicle with more security we are using CP-ABE based algorithm which is used to hide the transferred data into cipher text. The cipher text can be decrypted by the private key generated by sender to the particular AV. </a:t>
            </a:r>
            <a:endParaRPr lang="en-US" sz="2000" b="1" kern="0" dirty="0">
              <a:latin typeface="Times New Roman"/>
              <a:ea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PROPOSED SYSTEM</a:t>
            </a:r>
            <a:endParaRPr lang="en-US" dirty="0"/>
          </a:p>
        </p:txBody>
      </p:sp>
      <p:sp>
        <p:nvSpPr>
          <p:cNvPr id="3" name="Content Placeholder 2"/>
          <p:cNvSpPr>
            <a:spLocks noGrp="1"/>
          </p:cNvSpPr>
          <p:nvPr>
            <p:ph idx="1"/>
          </p:nvPr>
        </p:nvSpPr>
        <p:spPr/>
        <p:txBody>
          <a:bodyPr>
            <a:normAutofit/>
          </a:bodyPr>
          <a:lstStyle/>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Enhanced security measures bolster protection against breaches, ensuring robust defenses against unauthorized access and data compromise</a:t>
            </a:r>
            <a:r>
              <a:rPr lang="en-US" sz="1600" b="1" dirty="0" smtClean="0">
                <a:latin typeface="Times New Roman"/>
                <a:ea typeface="Times New Roman"/>
                <a:cs typeface="Times New Roman"/>
              </a:rPr>
              <a:t>.</a:t>
            </a:r>
            <a:r>
              <a:rPr lang="en-US" sz="1200" dirty="0" smtClean="0">
                <a:latin typeface="Calibri"/>
                <a:ea typeface="Times New Roman"/>
                <a:cs typeface="Times New Roman"/>
              </a:rPr>
              <a:t> </a:t>
            </a:r>
          </a:p>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Precision in data transmission minimizes errors, optimizing reliability and promoting seamless, accurate information exchange.</a:t>
            </a:r>
            <a:endParaRPr lang="en-US" sz="1400" b="1" dirty="0" smtClean="0">
              <a:latin typeface="Cambria"/>
              <a:ea typeface="Times New Roman"/>
              <a:cs typeface="Times New Roman"/>
            </a:endParaRPr>
          </a:p>
          <a:p>
            <a:pPr marL="342900" lvl="0" indent="-342900" algn="just">
              <a:lnSpc>
                <a:spcPct val="150000"/>
              </a:lnSpc>
              <a:spcBef>
                <a:spcPts val="1200"/>
              </a:spcBef>
              <a:spcAft>
                <a:spcPts val="1200"/>
              </a:spcAft>
              <a:buFont typeface="+mj-lt"/>
              <a:buAutoNum type="arabicPeriod"/>
              <a:tabLst>
                <a:tab pos="368935" algn="l"/>
              </a:tabLst>
            </a:pPr>
            <a:r>
              <a:rPr lang="en-US" sz="1600" b="1" dirty="0" smtClean="0">
                <a:latin typeface="Times New Roman"/>
                <a:ea typeface="Times New Roman"/>
                <a:cs typeface="Times New Roman"/>
              </a:rPr>
              <a:t>Reduced cyber attack susceptibility through proactive measures fortifies systems, safeguarding against threats and enhancing overall digital resilience.</a:t>
            </a:r>
            <a:endParaRPr lang="en-US" sz="1400" b="1" dirty="0">
              <a:latin typeface="Cambria"/>
              <a:ea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REQUIREMENTS</a:t>
            </a:r>
            <a:endParaRPr lang="en-US" dirty="0"/>
          </a:p>
        </p:txBody>
      </p:sp>
      <p:sp>
        <p:nvSpPr>
          <p:cNvPr id="5" name="Text Placeholder 4"/>
          <p:cNvSpPr>
            <a:spLocks noGrp="1"/>
          </p:cNvSpPr>
          <p:nvPr>
            <p:ph type="body" idx="1"/>
          </p:nvPr>
        </p:nvSpPr>
        <p:spPr/>
        <p:txBody>
          <a:bodyPr/>
          <a:lstStyle/>
          <a:p>
            <a:r>
              <a:rPr smtClean="0"/>
              <a:t>SOFTWARE</a:t>
            </a:r>
            <a:endParaRPr lang="en-US" dirty="0"/>
          </a:p>
        </p:txBody>
      </p:sp>
      <p:sp>
        <p:nvSpPr>
          <p:cNvPr id="7" name="Text Placeholder 6"/>
          <p:cNvSpPr>
            <a:spLocks noGrp="1"/>
          </p:cNvSpPr>
          <p:nvPr>
            <p:ph type="body" sz="half" idx="3"/>
          </p:nvPr>
        </p:nvSpPr>
        <p:spPr/>
        <p:txBody>
          <a:bodyPr/>
          <a:lstStyle/>
          <a:p>
            <a:r>
              <a:rPr lang="en-US" dirty="0" smtClean="0"/>
              <a:t>HARDWARE</a:t>
            </a:r>
            <a:endParaRPr lang="en-US" dirty="0"/>
          </a:p>
        </p:txBody>
      </p:sp>
      <p:sp>
        <p:nvSpPr>
          <p:cNvPr id="6" name="Content Placeholder 5"/>
          <p:cNvSpPr>
            <a:spLocks noGrp="1"/>
          </p:cNvSpPr>
          <p:nvPr>
            <p:ph sz="quarter" idx="2"/>
          </p:nvPr>
        </p:nvSpPr>
        <p:spPr/>
        <p:txBody>
          <a:bodyPr>
            <a:noAutofit/>
          </a:bodyPr>
          <a:lstStyle/>
          <a:p>
            <a:pPr algn="just">
              <a:lnSpc>
                <a:spcPct val="150000"/>
              </a:lnSpc>
            </a:pPr>
            <a:r>
              <a:rPr lang="en-US" sz="1600" b="1" dirty="0"/>
              <a:t>1) FRAME WORK - FLASK/DJANGO</a:t>
            </a:r>
            <a:endParaRPr lang="en-US" sz="1600" dirty="0"/>
          </a:p>
          <a:p>
            <a:pPr algn="just">
              <a:lnSpc>
                <a:spcPct val="150000"/>
              </a:lnSpc>
            </a:pPr>
            <a:r>
              <a:rPr lang="en-US" sz="1600" b="1" dirty="0"/>
              <a:t>2) DATABASE - MYSQL WORK BENCH/SQLITE 3</a:t>
            </a:r>
            <a:endParaRPr lang="en-US" sz="1600" dirty="0"/>
          </a:p>
          <a:p>
            <a:pPr algn="just">
              <a:lnSpc>
                <a:spcPct val="150000"/>
              </a:lnSpc>
            </a:pPr>
            <a:r>
              <a:rPr lang="en-US" sz="1600" b="1" dirty="0"/>
              <a:t>3) USER INTERFACE LANGUAGES - HTML, CSS, JS, BOOTSTRAP 4</a:t>
            </a:r>
            <a:endParaRPr lang="en-US" sz="1600" dirty="0"/>
          </a:p>
          <a:p>
            <a:pPr algn="just">
              <a:lnSpc>
                <a:spcPct val="150000"/>
              </a:lnSpc>
            </a:pPr>
            <a:r>
              <a:rPr lang="en-US" sz="1600" b="1" dirty="0"/>
              <a:t>4) FRONTEND LANGUAGES - PYHTON</a:t>
            </a:r>
            <a:endParaRPr lang="en-US" sz="1600" dirty="0"/>
          </a:p>
          <a:p>
            <a:pPr algn="just">
              <a:lnSpc>
                <a:spcPct val="150000"/>
              </a:lnSpc>
            </a:pPr>
            <a:r>
              <a:rPr lang="en-US" sz="1600" b="1" dirty="0"/>
              <a:t>5) SOFTWARE INSTALLED - PYTHON IDLE (3.7.0)</a:t>
            </a:r>
            <a:endParaRPr lang="en-US" sz="1600" dirty="0"/>
          </a:p>
        </p:txBody>
      </p:sp>
      <p:sp>
        <p:nvSpPr>
          <p:cNvPr id="8" name="Content Placeholder 7"/>
          <p:cNvSpPr>
            <a:spLocks noGrp="1"/>
          </p:cNvSpPr>
          <p:nvPr>
            <p:ph sz="quarter" idx="4"/>
          </p:nvPr>
        </p:nvSpPr>
        <p:spPr/>
        <p:txBody>
          <a:bodyPr>
            <a:normAutofit/>
          </a:bodyPr>
          <a:lstStyle/>
          <a:p>
            <a:pPr algn="just">
              <a:lnSpc>
                <a:spcPct val="150000"/>
              </a:lnSpc>
            </a:pPr>
            <a:r>
              <a:rPr lang="en-US" sz="1600" b="1" dirty="0"/>
              <a:t>1)Operating System : Windows Only</a:t>
            </a:r>
            <a:endParaRPr lang="en-US" sz="1600" dirty="0"/>
          </a:p>
          <a:p>
            <a:pPr algn="just">
              <a:lnSpc>
                <a:spcPct val="150000"/>
              </a:lnSpc>
            </a:pPr>
            <a:r>
              <a:rPr lang="en-US" sz="1600" b="1" dirty="0"/>
              <a:t>2)Processor : i5 and above</a:t>
            </a:r>
            <a:endParaRPr lang="en-US" sz="1600" dirty="0"/>
          </a:p>
          <a:p>
            <a:pPr algn="just">
              <a:lnSpc>
                <a:spcPct val="150000"/>
              </a:lnSpc>
            </a:pPr>
            <a:r>
              <a:rPr lang="en-US" sz="1600" b="1" dirty="0"/>
              <a:t>3)Ram : 8gb and above </a:t>
            </a:r>
            <a:endParaRPr lang="en-US" sz="1600" dirty="0"/>
          </a:p>
          <a:p>
            <a:pPr algn="just">
              <a:lnSpc>
                <a:spcPct val="150000"/>
              </a:lnSpc>
            </a:pPr>
            <a:r>
              <a:rPr lang="en-US" sz="1600" b="1" dirty="0"/>
              <a:t>4)Hard Disk : 25 GB in local drive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6" name="Content Placeholder 5"/>
          <p:cNvPicPr>
            <a:picLocks noGrp="1"/>
          </p:cNvPicPr>
          <p:nvPr>
            <p:ph idx="1"/>
          </p:nvPr>
        </p:nvPicPr>
        <p:blipFill>
          <a:blip r:embed="rId2"/>
          <a:srcRect/>
          <a:stretch>
            <a:fillRect/>
          </a:stretch>
        </p:blipFill>
        <p:spPr bwMode="auto">
          <a:xfrm>
            <a:off x="1909390" y="1677669"/>
            <a:ext cx="5325219" cy="455358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pPr lvl="0" algn="just"/>
            <a:r>
              <a:rPr lang="en-US" sz="1600" dirty="0" smtClean="0"/>
              <a:t>Intelligence for Cloud-based Internet of Transportation Systems" successfully bridges the realms of cutting-edge technology and security in modern transportation networks. </a:t>
            </a:r>
          </a:p>
          <a:p>
            <a:pPr lvl="0" algn="just"/>
            <a:r>
              <a:rPr lang="en-US" sz="1600" dirty="0" smtClean="0"/>
              <a:t>By synergizing AI-driven anomaly detection and robust cyber security measures, the project contributes to safeguarding cloud-based transportation systems against emerging threats. </a:t>
            </a:r>
          </a:p>
          <a:p>
            <a:pPr lvl="0" algn="just"/>
            <a:r>
              <a:rPr lang="en-US" sz="1600" dirty="0" smtClean="0"/>
              <a:t>Continuous monitoring, adaptation, and collaboration are vital components in this evolving landscape.</a:t>
            </a:r>
          </a:p>
          <a:p>
            <a:pPr lvl="0" algn="just"/>
            <a:r>
              <a:rPr lang="en-US" sz="1600" dirty="0" smtClean="0"/>
              <a:t>Safeguarding transportation networks through comprehensive </a:t>
            </a:r>
            <a:r>
              <a:rPr lang="en-US" sz="1600" dirty="0" err="1" smtClean="0"/>
              <a:t>cybersecurity</a:t>
            </a:r>
            <a:r>
              <a:rPr lang="en-US" sz="1600" dirty="0" smtClean="0"/>
              <a:t> measures not only protects sensitive information but also contributes to the sustained efficiency and safety of advancement and interconnected systems.</a:t>
            </a:r>
            <a:endParaRPr lang="en-US" sz="1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37</TotalTime>
  <Words>671</Words>
  <Application>Microsoft Office PowerPoint</Application>
  <PresentationFormat>On-screen Show (4:3)</PresentationFormat>
  <Paragraphs>54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Apex</vt:lpstr>
      <vt:lpstr>CYBER SECURITY AND ARTIFICIAL INTELLIGENCE FOR CLOUD- BASED INTERNET OF TRANSPORTATION SYSTEMS</vt:lpstr>
      <vt:lpstr>ABSTRACT</vt:lpstr>
      <vt:lpstr>INTRODUCTION</vt:lpstr>
      <vt:lpstr>PROBLEM STATEMENT</vt:lpstr>
      <vt:lpstr>OBJECTIVE</vt:lpstr>
      <vt:lpstr>EXISTING SYSTEM</vt:lpstr>
      <vt:lpstr>DRAWBACKS OF EXISTING SYSTEM</vt:lpstr>
      <vt:lpstr>PROPOSED SYSTEM</vt:lpstr>
      <vt:lpstr>BENEFITS OF PROPOSED SYSTEM</vt:lpstr>
      <vt:lpstr>REQUIREMENTS</vt:lpstr>
      <vt:lpstr>SYSTEM  ARCHITECTURE</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AND ARTIFICIAL INTELLIGENCE FOR CLOUD- BASED INTERNET OF TRANSPORTATION SYSTEMS</dc:title>
  <dc:creator>TruProjects</dc:creator>
  <cp:lastModifiedBy>TruProjects</cp:lastModifiedBy>
  <cp:revision>10</cp:revision>
  <dcterms:created xsi:type="dcterms:W3CDTF">2023-12-11T05:12:28Z</dcterms:created>
  <dcterms:modified xsi:type="dcterms:W3CDTF">2024-01-26T13:27:44Z</dcterms:modified>
</cp:coreProperties>
</file>